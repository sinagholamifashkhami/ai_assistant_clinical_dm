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9" r:id="rId12"/>
    <p:sldId id="325" r:id="rId13"/>
    <p:sldId id="317" r:id="rId14"/>
    <p:sldId id="321" r:id="rId15"/>
    <p:sldId id="318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202C8F"/>
    <a:srgbClr val="FDFBF6"/>
    <a:srgbClr val="AAC4E9"/>
    <a:srgbClr val="F5CDCE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5388" autoAdjust="0"/>
  </p:normalViewPr>
  <p:slideViewPr>
    <p:cSldViewPr snapToGrid="0" snapToObjects="1">
      <p:cViewPr>
        <p:scale>
          <a:sx n="100" d="100"/>
          <a:sy n="100" d="100"/>
        </p:scale>
        <p:origin x="816" y="26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77D409-5B1B-4C01-83B6-9E2D087310E6}" type="doc">
      <dgm:prSet loTypeId="urn:microsoft.com/office/officeart/2005/8/layout/hierarchy3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49E9BF3-66AD-4EA5-A436-D0BB6222AC22}">
      <dgm:prSet phldrT="[Text]" phldr="0" custT="1"/>
      <dgm:spPr/>
      <dgm:t>
        <a:bodyPr/>
        <a:lstStyle/>
        <a:p>
          <a:r>
            <a:rPr lang="en-US" sz="2400" dirty="0"/>
            <a:t>Research Gap</a:t>
          </a:r>
        </a:p>
      </dgm:t>
    </dgm:pt>
    <dgm:pt modelId="{E2A29EC7-A6BE-4552-9FD9-EB56FF52914E}" type="parTrans" cxnId="{CB044733-AE0B-4BF1-B9D5-D4993F1B01FA}">
      <dgm:prSet/>
      <dgm:spPr/>
      <dgm:t>
        <a:bodyPr/>
        <a:lstStyle/>
        <a:p>
          <a:endParaRPr lang="en-US"/>
        </a:p>
      </dgm:t>
    </dgm:pt>
    <dgm:pt modelId="{E204952C-83DD-4243-ACE6-C01226604561}" type="sibTrans" cxnId="{CB044733-AE0B-4BF1-B9D5-D4993F1B01FA}">
      <dgm:prSet/>
      <dgm:spPr/>
      <dgm:t>
        <a:bodyPr/>
        <a:lstStyle/>
        <a:p>
          <a:endParaRPr lang="en-US"/>
        </a:p>
      </dgm:t>
    </dgm:pt>
    <dgm:pt modelId="{3469A57E-2DB5-4BB8-B87E-F54FB11E31BA}">
      <dgm:prSet phldrT="[Text]" custT="1"/>
      <dgm:spPr/>
      <dgm:t>
        <a:bodyPr/>
        <a:lstStyle/>
        <a:p>
          <a:r>
            <a:rPr lang="en-US" sz="2000" dirty="0"/>
            <a:t>Existing studies focus on:</a:t>
          </a:r>
        </a:p>
      </dgm:t>
    </dgm:pt>
    <dgm:pt modelId="{07329F1F-ED2A-4539-B284-D7B3C4FE6DCD}" type="parTrans" cxnId="{E4ED6EDA-0683-4A74-95C1-403E58195A38}">
      <dgm:prSet/>
      <dgm:spPr/>
      <dgm:t>
        <a:bodyPr/>
        <a:lstStyle/>
        <a:p>
          <a:endParaRPr lang="en-US"/>
        </a:p>
      </dgm:t>
    </dgm:pt>
    <dgm:pt modelId="{9404F904-C3F5-4DCA-9B3C-DE58BC184449}" type="sibTrans" cxnId="{E4ED6EDA-0683-4A74-95C1-403E58195A38}">
      <dgm:prSet/>
      <dgm:spPr/>
      <dgm:t>
        <a:bodyPr/>
        <a:lstStyle/>
        <a:p>
          <a:endParaRPr lang="en-US"/>
        </a:p>
      </dgm:t>
    </dgm:pt>
    <dgm:pt modelId="{A561367D-38EE-4C0F-9AB8-E2B1FD725ED9}">
      <dgm:prSet phldrT="[Text]" custT="1"/>
      <dgm:spPr/>
      <dgm:t>
        <a:bodyPr/>
        <a:lstStyle/>
        <a:p>
          <a:r>
            <a:rPr lang="en-US" sz="2400" dirty="0"/>
            <a:t>Our Objective</a:t>
          </a:r>
        </a:p>
      </dgm:t>
    </dgm:pt>
    <dgm:pt modelId="{17280EF9-F9B1-4942-A79B-150E2AC63A0B}" type="parTrans" cxnId="{D4899608-96E4-464B-9F2E-8DF70787B861}">
      <dgm:prSet/>
      <dgm:spPr/>
      <dgm:t>
        <a:bodyPr/>
        <a:lstStyle/>
        <a:p>
          <a:endParaRPr lang="en-US"/>
        </a:p>
      </dgm:t>
    </dgm:pt>
    <dgm:pt modelId="{03177A24-D0FF-4776-BFCD-CB776317E3FC}" type="sibTrans" cxnId="{D4899608-96E4-464B-9F2E-8DF70787B861}">
      <dgm:prSet/>
      <dgm:spPr/>
      <dgm:t>
        <a:bodyPr/>
        <a:lstStyle/>
        <a:p>
          <a:endParaRPr lang="en-US"/>
        </a:p>
      </dgm:t>
    </dgm:pt>
    <dgm:pt modelId="{2EE3CE62-E321-4847-97A0-319E38C9F8F5}">
      <dgm:prSet phldrT="[Text]" custT="1"/>
      <dgm:spPr/>
      <dgm:t>
        <a:bodyPr/>
        <a:lstStyle/>
        <a:p>
          <a:r>
            <a:rPr lang="en-US" sz="1600" dirty="0"/>
            <a:t>AI accuracy and technical performance
User acceptance and usability</a:t>
          </a:r>
        </a:p>
      </dgm:t>
    </dgm:pt>
    <dgm:pt modelId="{99D05FE9-F6E3-4EBF-BC28-BEDCADD730EF}" type="parTrans" cxnId="{A5722CBB-90C4-447A-87EE-9CEBA6318741}">
      <dgm:prSet/>
      <dgm:spPr/>
      <dgm:t>
        <a:bodyPr/>
        <a:lstStyle/>
        <a:p>
          <a:endParaRPr lang="en-US"/>
        </a:p>
      </dgm:t>
    </dgm:pt>
    <dgm:pt modelId="{5CC74581-CCDB-4790-AC2B-2F7DBDC10BFB}" type="sibTrans" cxnId="{A5722CBB-90C4-447A-87EE-9CEBA6318741}">
      <dgm:prSet/>
      <dgm:spPr/>
      <dgm:t>
        <a:bodyPr/>
        <a:lstStyle/>
        <a:p>
          <a:endParaRPr lang="en-US"/>
        </a:p>
      </dgm:t>
    </dgm:pt>
    <dgm:pt modelId="{0AB53266-C953-4C40-9FD2-850FE69DE4F8}">
      <dgm:prSet phldrT="[Text]" custT="1"/>
      <dgm:spPr/>
      <dgm:t>
        <a:bodyPr/>
        <a:lstStyle/>
        <a:p>
          <a:r>
            <a:rPr lang="en-US" sz="2000" dirty="0"/>
            <a:t>Limited attention to:</a:t>
          </a:r>
        </a:p>
      </dgm:t>
    </dgm:pt>
    <dgm:pt modelId="{42607F1E-439B-471C-B862-0B578D4F2009}" type="parTrans" cxnId="{F4BDB9CB-3B65-41A5-980C-F728B1A17360}">
      <dgm:prSet/>
      <dgm:spPr/>
      <dgm:t>
        <a:bodyPr/>
        <a:lstStyle/>
        <a:p>
          <a:endParaRPr lang="en-US"/>
        </a:p>
      </dgm:t>
    </dgm:pt>
    <dgm:pt modelId="{DA453EE7-7FE8-4EA5-9FB7-BAF2793A4E93}" type="sibTrans" cxnId="{F4BDB9CB-3B65-41A5-980C-F728B1A17360}">
      <dgm:prSet/>
      <dgm:spPr/>
      <dgm:t>
        <a:bodyPr/>
        <a:lstStyle/>
        <a:p>
          <a:endParaRPr lang="en-US"/>
        </a:p>
      </dgm:t>
    </dgm:pt>
    <dgm:pt modelId="{6C940141-1F8F-4B36-A66A-712DACCA2FF9}">
      <dgm:prSet phldrT="[Text]" custT="1"/>
      <dgm:spPr/>
      <dgm:t>
        <a:bodyPr/>
        <a:lstStyle/>
        <a:p>
          <a:r>
            <a:rPr lang="en-US" sz="1600" dirty="0"/>
            <a:t>Organizational efficiency
System-level dynamics
Congestion, delays, and variability over time</a:t>
          </a:r>
        </a:p>
      </dgm:t>
    </dgm:pt>
    <dgm:pt modelId="{D4602890-BE1C-45BA-B974-E92CFCCC5E2B}" type="parTrans" cxnId="{894149EF-9FB6-4015-A7FA-D5868CE7AFD5}">
      <dgm:prSet/>
      <dgm:spPr/>
      <dgm:t>
        <a:bodyPr/>
        <a:lstStyle/>
        <a:p>
          <a:endParaRPr lang="en-US"/>
        </a:p>
      </dgm:t>
    </dgm:pt>
    <dgm:pt modelId="{2BDBDF52-065F-421A-98B8-EC4E0BC94357}" type="sibTrans" cxnId="{894149EF-9FB6-4015-A7FA-D5868CE7AFD5}">
      <dgm:prSet/>
      <dgm:spPr/>
      <dgm:t>
        <a:bodyPr/>
        <a:lstStyle/>
        <a:p>
          <a:endParaRPr lang="en-US"/>
        </a:p>
      </dgm:t>
    </dgm:pt>
    <dgm:pt modelId="{DDE619F3-FA89-485C-85C7-9665065C2DFD}">
      <dgm:prSet phldrT="[Text]" custT="1"/>
      <dgm:spPr/>
      <dgm:t>
        <a:bodyPr/>
        <a:lstStyle/>
        <a:p>
          <a:r>
            <a:rPr lang="en-US" sz="2000" dirty="0"/>
            <a:t>This project aims to:</a:t>
          </a:r>
        </a:p>
      </dgm:t>
    </dgm:pt>
    <dgm:pt modelId="{C6FCDEEF-2FE2-4197-9FA2-D987716C2142}" type="parTrans" cxnId="{A7E02D4E-B6DB-43A9-BD21-0792DC682697}">
      <dgm:prSet/>
      <dgm:spPr/>
      <dgm:t>
        <a:bodyPr/>
        <a:lstStyle/>
        <a:p>
          <a:endParaRPr lang="en-US"/>
        </a:p>
      </dgm:t>
    </dgm:pt>
    <dgm:pt modelId="{9AE8436E-7B34-4BE3-84AF-6B7904B07C85}" type="sibTrans" cxnId="{A7E02D4E-B6DB-43A9-BD21-0792DC682697}">
      <dgm:prSet/>
      <dgm:spPr/>
      <dgm:t>
        <a:bodyPr/>
        <a:lstStyle/>
        <a:p>
          <a:endParaRPr lang="en-US"/>
        </a:p>
      </dgm:t>
    </dgm:pt>
    <dgm:pt modelId="{A189984E-D35B-429B-BAD7-F630F45BA72C}">
      <dgm:prSet phldrT="[Text]" custT="1"/>
      <dgm:spPr/>
      <dgm:t>
        <a:bodyPr/>
        <a:lstStyle/>
        <a:p>
          <a:r>
            <a:rPr lang="en-US" sz="1600" dirty="0"/>
            <a:t>Evaluate AI as an organizational process innovation</a:t>
          </a:r>
        </a:p>
      </dgm:t>
    </dgm:pt>
    <dgm:pt modelId="{0AAEB2A0-A178-4530-98D9-69786171BFFA}" type="parTrans" cxnId="{56660CD6-6E0C-4A04-9D8E-788AC25F84AC}">
      <dgm:prSet/>
      <dgm:spPr/>
      <dgm:t>
        <a:bodyPr/>
        <a:lstStyle/>
        <a:p>
          <a:endParaRPr lang="en-US"/>
        </a:p>
      </dgm:t>
    </dgm:pt>
    <dgm:pt modelId="{979B3024-FA75-47AB-B8D9-0E1E41A62099}" type="sibTrans" cxnId="{56660CD6-6E0C-4A04-9D8E-788AC25F84AC}">
      <dgm:prSet/>
      <dgm:spPr/>
      <dgm:t>
        <a:bodyPr/>
        <a:lstStyle/>
        <a:p>
          <a:endParaRPr lang="en-US"/>
        </a:p>
      </dgm:t>
    </dgm:pt>
    <dgm:pt modelId="{31811A3E-C56B-4044-9A4D-D2BC6DC53C62}">
      <dgm:prSet phldrT="[Text]" custT="1"/>
      <dgm:spPr/>
      <dgm:t>
        <a:bodyPr/>
        <a:lstStyle/>
        <a:p>
          <a:pPr algn="l"/>
          <a:r>
            <a:rPr lang="en-US" sz="2000" dirty="0"/>
            <a:t>Quantify its impact on:</a:t>
          </a:r>
        </a:p>
        <a:p>
          <a:pPr algn="l"/>
          <a:r>
            <a:rPr lang="en-US" sz="1600" dirty="0" err="1"/>
            <a:t>i</a:t>
          </a:r>
          <a:r>
            <a:rPr lang="en-US" sz="1600" dirty="0"/>
            <a:t>. Length of Stay (LOS), ii. Throughput, iii. Decision latency, iv. System stability</a:t>
          </a:r>
        </a:p>
      </dgm:t>
    </dgm:pt>
    <dgm:pt modelId="{9E607964-2F59-44CA-8D61-123A14EFA24F}" type="parTrans" cxnId="{552FD531-4EE0-42B6-AC54-FEA159A7BCF8}">
      <dgm:prSet/>
      <dgm:spPr/>
      <dgm:t>
        <a:bodyPr/>
        <a:lstStyle/>
        <a:p>
          <a:endParaRPr lang="en-US"/>
        </a:p>
      </dgm:t>
    </dgm:pt>
    <dgm:pt modelId="{B5B5DBFA-977D-417E-B0F6-BCF837167DD1}" type="sibTrans" cxnId="{552FD531-4EE0-42B6-AC54-FEA159A7BCF8}">
      <dgm:prSet/>
      <dgm:spPr/>
      <dgm:t>
        <a:bodyPr/>
        <a:lstStyle/>
        <a:p>
          <a:endParaRPr lang="en-US"/>
        </a:p>
      </dgm:t>
    </dgm:pt>
    <dgm:pt modelId="{BE826CFF-B084-49C7-A29E-E1BA584F8B34}">
      <dgm:prSet phldrT="[Text]" custT="1"/>
      <dgm:spPr/>
      <dgm:t>
        <a:bodyPr/>
        <a:lstStyle/>
        <a:p>
          <a:pPr algn="l">
            <a:buNone/>
          </a:pPr>
          <a:r>
            <a:rPr lang="en-US" sz="2000" kern="1200">
              <a:latin typeface="Sabon Next LT"/>
              <a:ea typeface="+mn-ea"/>
              <a:cs typeface="+mn-cs"/>
            </a:rPr>
            <a:t>system-level, dynamic approach</a:t>
          </a:r>
          <a:endParaRPr lang="en-US" sz="2000" kern="1200" dirty="0">
            <a:latin typeface="Sabon Next LT"/>
            <a:ea typeface="+mn-ea"/>
            <a:cs typeface="+mn-cs"/>
          </a:endParaRPr>
        </a:p>
      </dgm:t>
    </dgm:pt>
    <dgm:pt modelId="{99FCAC18-997F-4FF3-BBCA-384608B7155C}" type="parTrans" cxnId="{6FB0A3F9-8152-4D74-AB97-84E3E3AF3630}">
      <dgm:prSet/>
      <dgm:spPr/>
      <dgm:t>
        <a:bodyPr/>
        <a:lstStyle/>
        <a:p>
          <a:endParaRPr lang="en-US"/>
        </a:p>
      </dgm:t>
    </dgm:pt>
    <dgm:pt modelId="{7B43B0D5-34FE-49F7-90C0-DA698F1C25B2}" type="sibTrans" cxnId="{6FB0A3F9-8152-4D74-AB97-84E3E3AF3630}">
      <dgm:prSet/>
      <dgm:spPr/>
      <dgm:t>
        <a:bodyPr/>
        <a:lstStyle/>
        <a:p>
          <a:endParaRPr lang="en-US"/>
        </a:p>
      </dgm:t>
    </dgm:pt>
    <dgm:pt modelId="{6D250CC1-F22B-4612-91DE-2E1328B2D2B4}" type="pres">
      <dgm:prSet presAssocID="{8777D409-5B1B-4C01-83B6-9E2D087310E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0099A2B-1A17-4847-BA05-5977EF84946B}" type="pres">
      <dgm:prSet presAssocID="{249E9BF3-66AD-4EA5-A436-D0BB6222AC22}" presName="root" presStyleCnt="0"/>
      <dgm:spPr/>
    </dgm:pt>
    <dgm:pt modelId="{67F70B84-A345-4416-98EE-0FDD9B772640}" type="pres">
      <dgm:prSet presAssocID="{249E9BF3-66AD-4EA5-A436-D0BB6222AC22}" presName="rootComposite" presStyleCnt="0"/>
      <dgm:spPr/>
    </dgm:pt>
    <dgm:pt modelId="{5369CF1C-F947-4479-AE09-99B3AF4C8160}" type="pres">
      <dgm:prSet presAssocID="{249E9BF3-66AD-4EA5-A436-D0BB6222AC22}" presName="rootText" presStyleLbl="node1" presStyleIdx="0" presStyleCnt="2" custScaleX="127450" custScaleY="74346" custLinFactX="-42942" custLinFactNeighborX="-100000" custLinFactNeighborY="-71"/>
      <dgm:spPr/>
    </dgm:pt>
    <dgm:pt modelId="{4134B86F-A2AA-4907-81D8-86F84353931A}" type="pres">
      <dgm:prSet presAssocID="{249E9BF3-66AD-4EA5-A436-D0BB6222AC22}" presName="rootConnector" presStyleLbl="node1" presStyleIdx="0" presStyleCnt="2"/>
      <dgm:spPr/>
    </dgm:pt>
    <dgm:pt modelId="{F286D6A6-CB85-4492-8666-95DD4AC94467}" type="pres">
      <dgm:prSet presAssocID="{249E9BF3-66AD-4EA5-A436-D0BB6222AC22}" presName="childShape" presStyleCnt="0"/>
      <dgm:spPr/>
    </dgm:pt>
    <dgm:pt modelId="{61A5EEF2-809F-4909-A4DE-E97B16C9C992}" type="pres">
      <dgm:prSet presAssocID="{07329F1F-ED2A-4539-B284-D7B3C4FE6DCD}" presName="Name13" presStyleLbl="parChTrans1D2" presStyleIdx="0" presStyleCnt="5"/>
      <dgm:spPr/>
    </dgm:pt>
    <dgm:pt modelId="{66C25DD6-16A2-4D9A-9E75-47C3303089D4}" type="pres">
      <dgm:prSet presAssocID="{3469A57E-2DB5-4BB8-B87E-F54FB11E31BA}" presName="childText" presStyleLbl="bgAcc1" presStyleIdx="0" presStyleCnt="5" custScaleX="311394" custScaleY="169933" custLinFactNeighborX="-37182" custLinFactNeighborY="8040">
        <dgm:presLayoutVars>
          <dgm:bulletEnabled val="1"/>
        </dgm:presLayoutVars>
      </dgm:prSet>
      <dgm:spPr/>
    </dgm:pt>
    <dgm:pt modelId="{449B4675-EB4E-487E-899E-11E277293D7E}" type="pres">
      <dgm:prSet presAssocID="{42607F1E-439B-471C-B862-0B578D4F2009}" presName="Name13" presStyleLbl="parChTrans1D2" presStyleIdx="1" presStyleCnt="5"/>
      <dgm:spPr/>
    </dgm:pt>
    <dgm:pt modelId="{DBB55EDC-B2AB-4FE4-81CD-7C5C107680BB}" type="pres">
      <dgm:prSet presAssocID="{0AB53266-C953-4C40-9FD2-850FE69DE4F8}" presName="childText" presStyleLbl="bgAcc1" presStyleIdx="1" presStyleCnt="5" custScaleX="311394" custScaleY="169933" custLinFactNeighborX="-39132" custLinFactNeighborY="74">
        <dgm:presLayoutVars>
          <dgm:bulletEnabled val="1"/>
        </dgm:presLayoutVars>
      </dgm:prSet>
      <dgm:spPr/>
    </dgm:pt>
    <dgm:pt modelId="{DDA425A4-B983-4F49-BFDE-1EE9F93479FE}" type="pres">
      <dgm:prSet presAssocID="{A561367D-38EE-4C0F-9AB8-E2B1FD725ED9}" presName="root" presStyleCnt="0"/>
      <dgm:spPr/>
    </dgm:pt>
    <dgm:pt modelId="{99096A85-48FA-463D-8FDD-C8BC5B859EA7}" type="pres">
      <dgm:prSet presAssocID="{A561367D-38EE-4C0F-9AB8-E2B1FD725ED9}" presName="rootComposite" presStyleCnt="0"/>
      <dgm:spPr/>
    </dgm:pt>
    <dgm:pt modelId="{24A9814B-713B-4A48-AC83-03689C6E77C2}" type="pres">
      <dgm:prSet presAssocID="{A561367D-38EE-4C0F-9AB8-E2B1FD725ED9}" presName="rootText" presStyleLbl="node1" presStyleIdx="1" presStyleCnt="2" custScaleX="127450" custScaleY="74346" custLinFactNeighborX="-1900" custLinFactNeighborY="-74"/>
      <dgm:spPr/>
    </dgm:pt>
    <dgm:pt modelId="{B50B65A3-231D-4DAB-9E44-547F01E18476}" type="pres">
      <dgm:prSet presAssocID="{A561367D-38EE-4C0F-9AB8-E2B1FD725ED9}" presName="rootConnector" presStyleLbl="node1" presStyleIdx="1" presStyleCnt="2"/>
      <dgm:spPr/>
    </dgm:pt>
    <dgm:pt modelId="{C21A6214-5913-4BF0-A09B-5D177F01A68D}" type="pres">
      <dgm:prSet presAssocID="{A561367D-38EE-4C0F-9AB8-E2B1FD725ED9}" presName="childShape" presStyleCnt="0"/>
      <dgm:spPr/>
    </dgm:pt>
    <dgm:pt modelId="{DDE13756-912D-4612-A1E8-AA90F4C99453}" type="pres">
      <dgm:prSet presAssocID="{C6FCDEEF-2FE2-4197-9FA2-D987716C2142}" presName="Name13" presStyleLbl="parChTrans1D2" presStyleIdx="2" presStyleCnt="5"/>
      <dgm:spPr/>
    </dgm:pt>
    <dgm:pt modelId="{490FE21F-794E-4860-A085-4B1973CC55BF}" type="pres">
      <dgm:prSet presAssocID="{DDE619F3-FA89-485C-85C7-9665065C2DFD}" presName="childText" presStyleLbl="bgAcc1" presStyleIdx="2" presStyleCnt="5" custScaleX="357899">
        <dgm:presLayoutVars>
          <dgm:bulletEnabled val="1"/>
        </dgm:presLayoutVars>
      </dgm:prSet>
      <dgm:spPr/>
    </dgm:pt>
    <dgm:pt modelId="{89E89492-1B0E-45F8-A80A-5A46B1B81663}" type="pres">
      <dgm:prSet presAssocID="{9E607964-2F59-44CA-8D61-123A14EFA24F}" presName="Name13" presStyleLbl="parChTrans1D2" presStyleIdx="3" presStyleCnt="5"/>
      <dgm:spPr/>
    </dgm:pt>
    <dgm:pt modelId="{C5D3EB23-CC23-4AF8-86EF-8E6512F15180}" type="pres">
      <dgm:prSet presAssocID="{31811A3E-C56B-4044-9A4D-D2BC6DC53C62}" presName="childText" presStyleLbl="bgAcc1" presStyleIdx="3" presStyleCnt="5" custScaleX="357899" custScaleY="124558">
        <dgm:presLayoutVars>
          <dgm:bulletEnabled val="1"/>
        </dgm:presLayoutVars>
      </dgm:prSet>
      <dgm:spPr/>
    </dgm:pt>
    <dgm:pt modelId="{AF155381-8E58-4BA0-AE01-22D6D0CCFB50}" type="pres">
      <dgm:prSet presAssocID="{99FCAC18-997F-4FF3-BBCA-384608B7155C}" presName="Name13" presStyleLbl="parChTrans1D2" presStyleIdx="4" presStyleCnt="5"/>
      <dgm:spPr/>
    </dgm:pt>
    <dgm:pt modelId="{61EC22D2-ADD7-4C59-8F7D-D90EEC95BA24}" type="pres">
      <dgm:prSet presAssocID="{BE826CFF-B084-49C7-A29E-E1BA584F8B34}" presName="childText" presStyleLbl="bgAcc1" presStyleIdx="4" presStyleCnt="5" custScaleX="357899">
        <dgm:presLayoutVars>
          <dgm:bulletEnabled val="1"/>
        </dgm:presLayoutVars>
      </dgm:prSet>
      <dgm:spPr/>
    </dgm:pt>
  </dgm:ptLst>
  <dgm:cxnLst>
    <dgm:cxn modelId="{D4899608-96E4-464B-9F2E-8DF70787B861}" srcId="{8777D409-5B1B-4C01-83B6-9E2D087310E6}" destId="{A561367D-38EE-4C0F-9AB8-E2B1FD725ED9}" srcOrd="1" destOrd="0" parTransId="{17280EF9-F9B1-4942-A79B-150E2AC63A0B}" sibTransId="{03177A24-D0FF-4776-BFCD-CB776317E3FC}"/>
    <dgm:cxn modelId="{4C7A4A0E-F950-4BC9-98E6-0070F79B907F}" type="presOf" srcId="{31811A3E-C56B-4044-9A4D-D2BC6DC53C62}" destId="{C5D3EB23-CC23-4AF8-86EF-8E6512F15180}" srcOrd="0" destOrd="0" presId="urn:microsoft.com/office/officeart/2005/8/layout/hierarchy3"/>
    <dgm:cxn modelId="{552FD531-4EE0-42B6-AC54-FEA159A7BCF8}" srcId="{A561367D-38EE-4C0F-9AB8-E2B1FD725ED9}" destId="{31811A3E-C56B-4044-9A4D-D2BC6DC53C62}" srcOrd="1" destOrd="0" parTransId="{9E607964-2F59-44CA-8D61-123A14EFA24F}" sibTransId="{B5B5DBFA-977D-417E-B0F6-BCF837167DD1}"/>
    <dgm:cxn modelId="{CB044733-AE0B-4BF1-B9D5-D4993F1B01FA}" srcId="{8777D409-5B1B-4C01-83B6-9E2D087310E6}" destId="{249E9BF3-66AD-4EA5-A436-D0BB6222AC22}" srcOrd="0" destOrd="0" parTransId="{E2A29EC7-A6BE-4552-9FD9-EB56FF52914E}" sibTransId="{E204952C-83DD-4243-ACE6-C01226604561}"/>
    <dgm:cxn modelId="{343AEE34-0D23-410F-87A7-3114ACF82035}" type="presOf" srcId="{9E607964-2F59-44CA-8D61-123A14EFA24F}" destId="{89E89492-1B0E-45F8-A80A-5A46B1B81663}" srcOrd="0" destOrd="0" presId="urn:microsoft.com/office/officeart/2005/8/layout/hierarchy3"/>
    <dgm:cxn modelId="{A782B346-9E86-4E06-AF68-68D808E8557B}" type="presOf" srcId="{42607F1E-439B-471C-B862-0B578D4F2009}" destId="{449B4675-EB4E-487E-899E-11E277293D7E}" srcOrd="0" destOrd="0" presId="urn:microsoft.com/office/officeart/2005/8/layout/hierarchy3"/>
    <dgm:cxn modelId="{DA9B7947-72B2-4706-ABB3-6FDF50C53BC8}" type="presOf" srcId="{07329F1F-ED2A-4539-B284-D7B3C4FE6DCD}" destId="{61A5EEF2-809F-4909-A4DE-E97B16C9C992}" srcOrd="0" destOrd="0" presId="urn:microsoft.com/office/officeart/2005/8/layout/hierarchy3"/>
    <dgm:cxn modelId="{A7E02D4E-B6DB-43A9-BD21-0792DC682697}" srcId="{A561367D-38EE-4C0F-9AB8-E2B1FD725ED9}" destId="{DDE619F3-FA89-485C-85C7-9665065C2DFD}" srcOrd="0" destOrd="0" parTransId="{C6FCDEEF-2FE2-4197-9FA2-D987716C2142}" sibTransId="{9AE8436E-7B34-4BE3-84AF-6B7904B07C85}"/>
    <dgm:cxn modelId="{85B57A70-CE75-47B6-9979-E88410786698}" type="presOf" srcId="{249E9BF3-66AD-4EA5-A436-D0BB6222AC22}" destId="{5369CF1C-F947-4479-AE09-99B3AF4C8160}" srcOrd="0" destOrd="0" presId="urn:microsoft.com/office/officeart/2005/8/layout/hierarchy3"/>
    <dgm:cxn modelId="{B13CC870-2A72-46B4-8072-9F6E7F9202A4}" type="presOf" srcId="{DDE619F3-FA89-485C-85C7-9665065C2DFD}" destId="{490FE21F-794E-4860-A085-4B1973CC55BF}" srcOrd="0" destOrd="0" presId="urn:microsoft.com/office/officeart/2005/8/layout/hierarchy3"/>
    <dgm:cxn modelId="{26E79C7D-E558-4D63-8E26-28E2E00628DD}" type="presOf" srcId="{C6FCDEEF-2FE2-4197-9FA2-D987716C2142}" destId="{DDE13756-912D-4612-A1E8-AA90F4C99453}" srcOrd="0" destOrd="0" presId="urn:microsoft.com/office/officeart/2005/8/layout/hierarchy3"/>
    <dgm:cxn modelId="{01538881-03CC-4D3A-8B4F-571CC086D348}" type="presOf" srcId="{A561367D-38EE-4C0F-9AB8-E2B1FD725ED9}" destId="{B50B65A3-231D-4DAB-9E44-547F01E18476}" srcOrd="1" destOrd="0" presId="urn:microsoft.com/office/officeart/2005/8/layout/hierarchy3"/>
    <dgm:cxn modelId="{76AA2984-C910-42DE-88F5-205F80DAF6DE}" type="presOf" srcId="{BE826CFF-B084-49C7-A29E-E1BA584F8B34}" destId="{61EC22D2-ADD7-4C59-8F7D-D90EEC95BA24}" srcOrd="0" destOrd="0" presId="urn:microsoft.com/office/officeart/2005/8/layout/hierarchy3"/>
    <dgm:cxn modelId="{DC8BF585-7DAC-4B7C-9C02-4ACD4A9C3B94}" type="presOf" srcId="{99FCAC18-997F-4FF3-BBCA-384608B7155C}" destId="{AF155381-8E58-4BA0-AE01-22D6D0CCFB50}" srcOrd="0" destOrd="0" presId="urn:microsoft.com/office/officeart/2005/8/layout/hierarchy3"/>
    <dgm:cxn modelId="{DA34B8A2-54FF-464E-926D-0C605CDC3343}" type="presOf" srcId="{2EE3CE62-E321-4847-97A0-319E38C9F8F5}" destId="{66C25DD6-16A2-4D9A-9E75-47C3303089D4}" srcOrd="0" destOrd="1" presId="urn:microsoft.com/office/officeart/2005/8/layout/hierarchy3"/>
    <dgm:cxn modelId="{F7573EA5-2D01-4F07-BD30-6B879865277F}" type="presOf" srcId="{6C940141-1F8F-4B36-A66A-712DACCA2FF9}" destId="{DBB55EDC-B2AB-4FE4-81CD-7C5C107680BB}" srcOrd="0" destOrd="1" presId="urn:microsoft.com/office/officeart/2005/8/layout/hierarchy3"/>
    <dgm:cxn modelId="{8562EABA-C59F-42B2-8C1F-71BDD6D7F405}" type="presOf" srcId="{8777D409-5B1B-4C01-83B6-9E2D087310E6}" destId="{6D250CC1-F22B-4612-91DE-2E1328B2D2B4}" srcOrd="0" destOrd="0" presId="urn:microsoft.com/office/officeart/2005/8/layout/hierarchy3"/>
    <dgm:cxn modelId="{A5722CBB-90C4-447A-87EE-9CEBA6318741}" srcId="{3469A57E-2DB5-4BB8-B87E-F54FB11E31BA}" destId="{2EE3CE62-E321-4847-97A0-319E38C9F8F5}" srcOrd="0" destOrd="0" parTransId="{99D05FE9-F6E3-4EBF-BC28-BEDCADD730EF}" sibTransId="{5CC74581-CCDB-4790-AC2B-2F7DBDC10BFB}"/>
    <dgm:cxn modelId="{678033BB-108D-4BD4-8849-3360A533FE2C}" type="presOf" srcId="{249E9BF3-66AD-4EA5-A436-D0BB6222AC22}" destId="{4134B86F-A2AA-4907-81D8-86F84353931A}" srcOrd="1" destOrd="0" presId="urn:microsoft.com/office/officeart/2005/8/layout/hierarchy3"/>
    <dgm:cxn modelId="{F4BDB9CB-3B65-41A5-980C-F728B1A17360}" srcId="{249E9BF3-66AD-4EA5-A436-D0BB6222AC22}" destId="{0AB53266-C953-4C40-9FD2-850FE69DE4F8}" srcOrd="1" destOrd="0" parTransId="{42607F1E-439B-471C-B862-0B578D4F2009}" sibTransId="{DA453EE7-7FE8-4EA5-9FB7-BAF2793A4E93}"/>
    <dgm:cxn modelId="{14770DD4-2B08-4F0B-8E87-EC77A06EA6A8}" type="presOf" srcId="{A189984E-D35B-429B-BAD7-F630F45BA72C}" destId="{490FE21F-794E-4860-A085-4B1973CC55BF}" srcOrd="0" destOrd="1" presId="urn:microsoft.com/office/officeart/2005/8/layout/hierarchy3"/>
    <dgm:cxn modelId="{56660CD6-6E0C-4A04-9D8E-788AC25F84AC}" srcId="{DDE619F3-FA89-485C-85C7-9665065C2DFD}" destId="{A189984E-D35B-429B-BAD7-F630F45BA72C}" srcOrd="0" destOrd="0" parTransId="{0AAEB2A0-A178-4530-98D9-69786171BFFA}" sibTransId="{979B3024-FA75-47AB-B8D9-0E1E41A62099}"/>
    <dgm:cxn modelId="{E4ED6EDA-0683-4A74-95C1-403E58195A38}" srcId="{249E9BF3-66AD-4EA5-A436-D0BB6222AC22}" destId="{3469A57E-2DB5-4BB8-B87E-F54FB11E31BA}" srcOrd="0" destOrd="0" parTransId="{07329F1F-ED2A-4539-B284-D7B3C4FE6DCD}" sibTransId="{9404F904-C3F5-4DCA-9B3C-DE58BC184449}"/>
    <dgm:cxn modelId="{24F95BE5-91E9-4DF4-8212-379724FC3295}" type="presOf" srcId="{0AB53266-C953-4C40-9FD2-850FE69DE4F8}" destId="{DBB55EDC-B2AB-4FE4-81CD-7C5C107680BB}" srcOrd="0" destOrd="0" presId="urn:microsoft.com/office/officeart/2005/8/layout/hierarchy3"/>
    <dgm:cxn modelId="{90BA81E5-DD81-4EB7-BE08-EABC77B48D05}" type="presOf" srcId="{A561367D-38EE-4C0F-9AB8-E2B1FD725ED9}" destId="{24A9814B-713B-4A48-AC83-03689C6E77C2}" srcOrd="0" destOrd="0" presId="urn:microsoft.com/office/officeart/2005/8/layout/hierarchy3"/>
    <dgm:cxn modelId="{894149EF-9FB6-4015-A7FA-D5868CE7AFD5}" srcId="{0AB53266-C953-4C40-9FD2-850FE69DE4F8}" destId="{6C940141-1F8F-4B36-A66A-712DACCA2FF9}" srcOrd="0" destOrd="0" parTransId="{D4602890-BE1C-45BA-B974-E92CFCCC5E2B}" sibTransId="{2BDBDF52-065F-421A-98B8-EC4E0BC94357}"/>
    <dgm:cxn modelId="{B2E3E8F6-E5B2-4E15-95AE-5949F966B7FA}" type="presOf" srcId="{3469A57E-2DB5-4BB8-B87E-F54FB11E31BA}" destId="{66C25DD6-16A2-4D9A-9E75-47C3303089D4}" srcOrd="0" destOrd="0" presId="urn:microsoft.com/office/officeart/2005/8/layout/hierarchy3"/>
    <dgm:cxn modelId="{6FB0A3F9-8152-4D74-AB97-84E3E3AF3630}" srcId="{A561367D-38EE-4C0F-9AB8-E2B1FD725ED9}" destId="{BE826CFF-B084-49C7-A29E-E1BA584F8B34}" srcOrd="2" destOrd="0" parTransId="{99FCAC18-997F-4FF3-BBCA-384608B7155C}" sibTransId="{7B43B0D5-34FE-49F7-90C0-DA698F1C25B2}"/>
    <dgm:cxn modelId="{7F108979-5381-4B06-9FCB-5542CF1337A7}" type="presParOf" srcId="{6D250CC1-F22B-4612-91DE-2E1328B2D2B4}" destId="{C0099A2B-1A17-4847-BA05-5977EF84946B}" srcOrd="0" destOrd="0" presId="urn:microsoft.com/office/officeart/2005/8/layout/hierarchy3"/>
    <dgm:cxn modelId="{9C6F86FD-6254-4735-8B6F-E5E50694B256}" type="presParOf" srcId="{C0099A2B-1A17-4847-BA05-5977EF84946B}" destId="{67F70B84-A345-4416-98EE-0FDD9B772640}" srcOrd="0" destOrd="0" presId="urn:microsoft.com/office/officeart/2005/8/layout/hierarchy3"/>
    <dgm:cxn modelId="{3EBA45E5-B38E-473E-83BA-263D356D505B}" type="presParOf" srcId="{67F70B84-A345-4416-98EE-0FDD9B772640}" destId="{5369CF1C-F947-4479-AE09-99B3AF4C8160}" srcOrd="0" destOrd="0" presId="urn:microsoft.com/office/officeart/2005/8/layout/hierarchy3"/>
    <dgm:cxn modelId="{9A63087B-671D-4D33-A223-172782633A5D}" type="presParOf" srcId="{67F70B84-A345-4416-98EE-0FDD9B772640}" destId="{4134B86F-A2AA-4907-81D8-86F84353931A}" srcOrd="1" destOrd="0" presId="urn:microsoft.com/office/officeart/2005/8/layout/hierarchy3"/>
    <dgm:cxn modelId="{76E4FA19-C165-4DE2-B541-A3512CC39223}" type="presParOf" srcId="{C0099A2B-1A17-4847-BA05-5977EF84946B}" destId="{F286D6A6-CB85-4492-8666-95DD4AC94467}" srcOrd="1" destOrd="0" presId="urn:microsoft.com/office/officeart/2005/8/layout/hierarchy3"/>
    <dgm:cxn modelId="{8FB175B0-12F0-4607-AC6B-48A7BBD7C4EA}" type="presParOf" srcId="{F286D6A6-CB85-4492-8666-95DD4AC94467}" destId="{61A5EEF2-809F-4909-A4DE-E97B16C9C992}" srcOrd="0" destOrd="0" presId="urn:microsoft.com/office/officeart/2005/8/layout/hierarchy3"/>
    <dgm:cxn modelId="{EDC28566-329D-406C-A89D-E1C7049C1C94}" type="presParOf" srcId="{F286D6A6-CB85-4492-8666-95DD4AC94467}" destId="{66C25DD6-16A2-4D9A-9E75-47C3303089D4}" srcOrd="1" destOrd="0" presId="urn:microsoft.com/office/officeart/2005/8/layout/hierarchy3"/>
    <dgm:cxn modelId="{D2C8EABF-71A5-45DF-ACBA-58D3DF551928}" type="presParOf" srcId="{F286D6A6-CB85-4492-8666-95DD4AC94467}" destId="{449B4675-EB4E-487E-899E-11E277293D7E}" srcOrd="2" destOrd="0" presId="urn:microsoft.com/office/officeart/2005/8/layout/hierarchy3"/>
    <dgm:cxn modelId="{827465F0-2F62-4AF1-BB9B-74A8FB07522B}" type="presParOf" srcId="{F286D6A6-CB85-4492-8666-95DD4AC94467}" destId="{DBB55EDC-B2AB-4FE4-81CD-7C5C107680BB}" srcOrd="3" destOrd="0" presId="urn:microsoft.com/office/officeart/2005/8/layout/hierarchy3"/>
    <dgm:cxn modelId="{4727F111-BEAE-4B4A-82E4-84A9B9BD759F}" type="presParOf" srcId="{6D250CC1-F22B-4612-91DE-2E1328B2D2B4}" destId="{DDA425A4-B983-4F49-BFDE-1EE9F93479FE}" srcOrd="1" destOrd="0" presId="urn:microsoft.com/office/officeart/2005/8/layout/hierarchy3"/>
    <dgm:cxn modelId="{006D2C7E-6523-44D6-8540-F516558BCB00}" type="presParOf" srcId="{DDA425A4-B983-4F49-BFDE-1EE9F93479FE}" destId="{99096A85-48FA-463D-8FDD-C8BC5B859EA7}" srcOrd="0" destOrd="0" presId="urn:microsoft.com/office/officeart/2005/8/layout/hierarchy3"/>
    <dgm:cxn modelId="{E9BF06F7-92F6-497A-9F52-90B49F5E71CE}" type="presParOf" srcId="{99096A85-48FA-463D-8FDD-C8BC5B859EA7}" destId="{24A9814B-713B-4A48-AC83-03689C6E77C2}" srcOrd="0" destOrd="0" presId="urn:microsoft.com/office/officeart/2005/8/layout/hierarchy3"/>
    <dgm:cxn modelId="{3D508C30-FFFD-48DF-9C58-1B8A7307AA4D}" type="presParOf" srcId="{99096A85-48FA-463D-8FDD-C8BC5B859EA7}" destId="{B50B65A3-231D-4DAB-9E44-547F01E18476}" srcOrd="1" destOrd="0" presId="urn:microsoft.com/office/officeart/2005/8/layout/hierarchy3"/>
    <dgm:cxn modelId="{2D86CEFD-85B5-429C-9D57-01B1A071F643}" type="presParOf" srcId="{DDA425A4-B983-4F49-BFDE-1EE9F93479FE}" destId="{C21A6214-5913-4BF0-A09B-5D177F01A68D}" srcOrd="1" destOrd="0" presId="urn:microsoft.com/office/officeart/2005/8/layout/hierarchy3"/>
    <dgm:cxn modelId="{C967A24C-22DA-45DE-9FA7-7617E0135AFC}" type="presParOf" srcId="{C21A6214-5913-4BF0-A09B-5D177F01A68D}" destId="{DDE13756-912D-4612-A1E8-AA90F4C99453}" srcOrd="0" destOrd="0" presId="urn:microsoft.com/office/officeart/2005/8/layout/hierarchy3"/>
    <dgm:cxn modelId="{2FA25E89-5D49-46FD-85E5-02C32735B7FE}" type="presParOf" srcId="{C21A6214-5913-4BF0-A09B-5D177F01A68D}" destId="{490FE21F-794E-4860-A085-4B1973CC55BF}" srcOrd="1" destOrd="0" presId="urn:microsoft.com/office/officeart/2005/8/layout/hierarchy3"/>
    <dgm:cxn modelId="{1ABBA6AA-B099-4485-8B9E-0A52B0B3F64F}" type="presParOf" srcId="{C21A6214-5913-4BF0-A09B-5D177F01A68D}" destId="{89E89492-1B0E-45F8-A80A-5A46B1B81663}" srcOrd="2" destOrd="0" presId="urn:microsoft.com/office/officeart/2005/8/layout/hierarchy3"/>
    <dgm:cxn modelId="{FDFB4CC9-483C-4994-B4B8-76A5828CFE21}" type="presParOf" srcId="{C21A6214-5913-4BF0-A09B-5D177F01A68D}" destId="{C5D3EB23-CC23-4AF8-86EF-8E6512F15180}" srcOrd="3" destOrd="0" presId="urn:microsoft.com/office/officeart/2005/8/layout/hierarchy3"/>
    <dgm:cxn modelId="{A4ACE6ED-2BA6-4E52-82B6-29B65306BC7A}" type="presParOf" srcId="{C21A6214-5913-4BF0-A09B-5D177F01A68D}" destId="{AF155381-8E58-4BA0-AE01-22D6D0CCFB50}" srcOrd="4" destOrd="0" presId="urn:microsoft.com/office/officeart/2005/8/layout/hierarchy3"/>
    <dgm:cxn modelId="{BE9E6384-057A-40FA-80D0-5803FB355987}" type="presParOf" srcId="{C21A6214-5913-4BF0-A09B-5D177F01A68D}" destId="{61EC22D2-ADD7-4C59-8F7D-D90EEC95BA24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69CF1C-F947-4479-AE09-99B3AF4C8160}">
      <dsp:nvSpPr>
        <dsp:cNvPr id="0" name=""/>
        <dsp:cNvSpPr/>
      </dsp:nvSpPr>
      <dsp:spPr>
        <a:xfrm>
          <a:off x="0" y="1561"/>
          <a:ext cx="2197957" cy="6410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Research Gap</a:t>
          </a:r>
        </a:p>
      </dsp:txBody>
      <dsp:txXfrm>
        <a:off x="18776" y="20337"/>
        <a:ext cx="2160405" cy="603520"/>
      </dsp:txXfrm>
    </dsp:sp>
    <dsp:sp modelId="{61A5EEF2-809F-4909-A4DE-E97B16C9C992}">
      <dsp:nvSpPr>
        <dsp:cNvPr id="0" name=""/>
        <dsp:cNvSpPr/>
      </dsp:nvSpPr>
      <dsp:spPr>
        <a:xfrm>
          <a:off x="219795" y="642633"/>
          <a:ext cx="113391" cy="1018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8161"/>
              </a:lnTo>
              <a:lnTo>
                <a:pt x="113391" y="101816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C25DD6-16A2-4D9A-9E75-47C3303089D4}">
      <dsp:nvSpPr>
        <dsp:cNvPr id="0" name=""/>
        <dsp:cNvSpPr/>
      </dsp:nvSpPr>
      <dsp:spPr>
        <a:xfrm>
          <a:off x="333187" y="928143"/>
          <a:ext cx="4296152" cy="14653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Existing studies focus on: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AI accuracy and technical performance
User acceptance and usability</a:t>
          </a:r>
        </a:p>
      </dsp:txBody>
      <dsp:txXfrm>
        <a:off x="376104" y="971060"/>
        <a:ext cx="4210318" cy="1379468"/>
      </dsp:txXfrm>
    </dsp:sp>
    <dsp:sp modelId="{449B4675-EB4E-487E-899E-11E277293D7E}">
      <dsp:nvSpPr>
        <dsp:cNvPr id="0" name=""/>
        <dsp:cNvSpPr/>
      </dsp:nvSpPr>
      <dsp:spPr>
        <a:xfrm>
          <a:off x="174075" y="642633"/>
          <a:ext cx="91440" cy="26303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30344"/>
              </a:lnTo>
              <a:lnTo>
                <a:pt x="132208" y="263034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B55EDC-B2AB-4FE4-81CD-7C5C107680BB}">
      <dsp:nvSpPr>
        <dsp:cNvPr id="0" name=""/>
        <dsp:cNvSpPr/>
      </dsp:nvSpPr>
      <dsp:spPr>
        <a:xfrm>
          <a:off x="306283" y="2540327"/>
          <a:ext cx="4296152" cy="14653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Limited attention to: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Organizational efficiency
System-level dynamics
Congestion, delays, and variability over time</a:t>
          </a:r>
        </a:p>
      </dsp:txBody>
      <dsp:txXfrm>
        <a:off x="349200" y="2583244"/>
        <a:ext cx="4210318" cy="1379468"/>
      </dsp:txXfrm>
    </dsp:sp>
    <dsp:sp modelId="{24A9814B-713B-4A48-AC83-03689C6E77C2}">
      <dsp:nvSpPr>
        <dsp:cNvPr id="0" name=""/>
        <dsp:cNvSpPr/>
      </dsp:nvSpPr>
      <dsp:spPr>
        <a:xfrm>
          <a:off x="5101104" y="1535"/>
          <a:ext cx="2197957" cy="6410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Our Objective</a:t>
          </a:r>
        </a:p>
      </dsp:txBody>
      <dsp:txXfrm>
        <a:off x="5119880" y="20311"/>
        <a:ext cx="2160405" cy="603520"/>
      </dsp:txXfrm>
    </dsp:sp>
    <dsp:sp modelId="{DDE13756-912D-4612-A1E8-AA90F4C99453}">
      <dsp:nvSpPr>
        <dsp:cNvPr id="0" name=""/>
        <dsp:cNvSpPr/>
      </dsp:nvSpPr>
      <dsp:spPr>
        <a:xfrm>
          <a:off x="5320899" y="642607"/>
          <a:ext cx="252562" cy="647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7349"/>
              </a:lnTo>
              <a:lnTo>
                <a:pt x="252562" y="64734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0FE21F-794E-4860-A085-4B1973CC55BF}">
      <dsp:nvSpPr>
        <dsp:cNvPr id="0" name=""/>
        <dsp:cNvSpPr/>
      </dsp:nvSpPr>
      <dsp:spPr>
        <a:xfrm>
          <a:off x="5573462" y="858816"/>
          <a:ext cx="4937759" cy="862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This project aims to: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Evaluate AI as an organizational process innovation</a:t>
          </a:r>
        </a:p>
      </dsp:txBody>
      <dsp:txXfrm>
        <a:off x="5598717" y="884071"/>
        <a:ext cx="4887249" cy="811772"/>
      </dsp:txXfrm>
    </dsp:sp>
    <dsp:sp modelId="{89E89492-1B0E-45F8-A80A-5A46B1B81663}">
      <dsp:nvSpPr>
        <dsp:cNvPr id="0" name=""/>
        <dsp:cNvSpPr/>
      </dsp:nvSpPr>
      <dsp:spPr>
        <a:xfrm>
          <a:off x="5320899" y="642607"/>
          <a:ext cx="252562" cy="18310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31082"/>
              </a:lnTo>
              <a:lnTo>
                <a:pt x="252562" y="183108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D3EB23-CC23-4AF8-86EF-8E6512F15180}">
      <dsp:nvSpPr>
        <dsp:cNvPr id="0" name=""/>
        <dsp:cNvSpPr/>
      </dsp:nvSpPr>
      <dsp:spPr>
        <a:xfrm>
          <a:off x="5573462" y="1936669"/>
          <a:ext cx="4937759" cy="10740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Quantify its impact on: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i</a:t>
          </a:r>
          <a:r>
            <a:rPr lang="en-US" sz="1600" kern="1200" dirty="0"/>
            <a:t>. Length of Stay (LOS), ii. Throughput, iii. Decision latency, iv. System stability</a:t>
          </a:r>
        </a:p>
      </dsp:txBody>
      <dsp:txXfrm>
        <a:off x="5604920" y="1968127"/>
        <a:ext cx="4874843" cy="1011125"/>
      </dsp:txXfrm>
    </dsp:sp>
    <dsp:sp modelId="{AF155381-8E58-4BA0-AE01-22D6D0CCFB50}">
      <dsp:nvSpPr>
        <dsp:cNvPr id="0" name=""/>
        <dsp:cNvSpPr/>
      </dsp:nvSpPr>
      <dsp:spPr>
        <a:xfrm>
          <a:off x="5320899" y="642607"/>
          <a:ext cx="252562" cy="30148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14814"/>
              </a:lnTo>
              <a:lnTo>
                <a:pt x="252562" y="301481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EC22D2-ADD7-4C59-8F7D-D90EEC95BA24}">
      <dsp:nvSpPr>
        <dsp:cNvPr id="0" name=""/>
        <dsp:cNvSpPr/>
      </dsp:nvSpPr>
      <dsp:spPr>
        <a:xfrm>
          <a:off x="5573462" y="3226281"/>
          <a:ext cx="4937759" cy="862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Sabon Next LT"/>
              <a:ea typeface="+mn-ea"/>
              <a:cs typeface="+mn-cs"/>
            </a:rPr>
            <a:t>system-level, dynamic approach</a:t>
          </a:r>
          <a:endParaRPr lang="en-US" sz="2000" kern="1200" dirty="0">
            <a:latin typeface="Sabon Next LT"/>
            <a:ea typeface="+mn-ea"/>
            <a:cs typeface="+mn-cs"/>
          </a:endParaRPr>
        </a:p>
      </dsp:txBody>
      <dsp:txXfrm>
        <a:off x="5598717" y="3251536"/>
        <a:ext cx="4887249" cy="8117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016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969479" y="3390029"/>
            <a:ext cx="6445041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554769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399412" y="6264067"/>
            <a:ext cx="440266" cy="440266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sp>
        <p:nvSpPr>
          <p:cNvPr id="10" name="Image 2">
            <a:extLst>
              <a:ext uri="{FF2B5EF4-FFF2-40B4-BE49-F238E27FC236}">
                <a16:creationId xmlns:a16="http://schemas.microsoft.com/office/drawing/2014/main" id="{10B2A7A2-C41E-409F-95F3-55BCA0FC8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0784" y="597054"/>
            <a:ext cx="440266" cy="440266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12032" y="34290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343970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5241" cy="3429000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71236" y="-28387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sp>
        <p:nvSpPr>
          <p:cNvPr id="3" name="Freeform 32">
            <a:extLst>
              <a:ext uri="{FF2B5EF4-FFF2-40B4-BE49-F238E27FC236}">
                <a16:creationId xmlns:a16="http://schemas.microsoft.com/office/drawing/2014/main" id="{C68D459F-73C0-0308-612F-6ABB7E1F1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56759" y="0"/>
            <a:ext cx="435241" cy="3429000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1" name="Image 2">
            <a:extLst>
              <a:ext uri="{FF2B5EF4-FFF2-40B4-BE49-F238E27FC236}">
                <a16:creationId xmlns:a16="http://schemas.microsoft.com/office/drawing/2014/main" id="{B74E48B1-3FA2-4FDD-BAD5-C93A10461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75034" y="5978567"/>
            <a:ext cx="440266" cy="440266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Image 2">
            <a:extLst>
              <a:ext uri="{FF2B5EF4-FFF2-40B4-BE49-F238E27FC236}">
                <a16:creationId xmlns:a16="http://schemas.microsoft.com/office/drawing/2014/main" id="{14C30158-E46F-4254-BCE6-1316EEB61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9776" y="6331179"/>
            <a:ext cx="440266" cy="440266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294052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8" y="-2784"/>
            <a:ext cx="1570026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577490"/>
            <a:ext cx="3306680" cy="3311063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8" y="3577491"/>
            <a:ext cx="1582654" cy="1587038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Image 2">
            <a:extLst>
              <a:ext uri="{FF2B5EF4-FFF2-40B4-BE49-F238E27FC236}">
                <a16:creationId xmlns:a16="http://schemas.microsoft.com/office/drawing/2014/main" id="{4D577974-3F1D-411F-94C0-8156E15C8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664" y="6389566"/>
            <a:ext cx="440266" cy="440266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Image 2">
            <a:extLst>
              <a:ext uri="{FF2B5EF4-FFF2-40B4-BE49-F238E27FC236}">
                <a16:creationId xmlns:a16="http://schemas.microsoft.com/office/drawing/2014/main" id="{459762F8-6FAD-4714-92F3-FFA03E4B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08351" y="6331179"/>
            <a:ext cx="440266" cy="440266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Image 2">
            <a:extLst>
              <a:ext uri="{FF2B5EF4-FFF2-40B4-BE49-F238E27FC236}">
                <a16:creationId xmlns:a16="http://schemas.microsoft.com/office/drawing/2014/main" id="{3228EDD4-1A5B-4565-AB9E-EA9F19772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00709" y="6281215"/>
            <a:ext cx="440266" cy="440266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Image 2">
            <a:extLst>
              <a:ext uri="{FF2B5EF4-FFF2-40B4-BE49-F238E27FC236}">
                <a16:creationId xmlns:a16="http://schemas.microsoft.com/office/drawing/2014/main" id="{11BAC344-47D8-47A1-A158-9A181168A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084" y="6281215"/>
            <a:ext cx="440266" cy="440266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Image 2">
            <a:extLst>
              <a:ext uri="{FF2B5EF4-FFF2-40B4-BE49-F238E27FC236}">
                <a16:creationId xmlns:a16="http://schemas.microsoft.com/office/drawing/2014/main" id="{3CCA7094-3861-42E1-AF65-82457785E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6253" y="237066"/>
            <a:ext cx="440266" cy="440266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1" name="Image 2">
            <a:extLst>
              <a:ext uri="{FF2B5EF4-FFF2-40B4-BE49-F238E27FC236}">
                <a16:creationId xmlns:a16="http://schemas.microsoft.com/office/drawing/2014/main" id="{4BCDE125-A90F-4113-81F8-834285DEB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3644" y="6157525"/>
            <a:ext cx="440266" cy="440266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4031" y="1789939"/>
            <a:ext cx="6723935" cy="1974224"/>
          </a:xfrm>
        </p:spPr>
        <p:txBody>
          <a:bodyPr anchor="ctr"/>
          <a:lstStyle/>
          <a:p>
            <a:r>
              <a:rPr lang="en-US" sz="2000" dirty="0">
                <a:latin typeface="Aptos Display" panose="020B0004020202020204" pitchFamily="34" charset="0"/>
              </a:rPr>
              <a:t>Quantifying Organizational Efficiency Gains from AI-Driven Treatment Decision 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09D56-99B3-306C-52C1-97438D14A908}"/>
              </a:ext>
            </a:extLst>
          </p:cNvPr>
          <p:cNvSpPr txBox="1"/>
          <p:nvPr/>
        </p:nvSpPr>
        <p:spPr>
          <a:xfrm>
            <a:off x="3837500" y="4257163"/>
            <a:ext cx="4516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spcBef>
                <a:spcPct val="0"/>
              </a:spcBef>
            </a:pPr>
            <a:r>
              <a:rPr lang="en-US" sz="1400" b="1" i="1" cap="all" dirty="0">
                <a:solidFill>
                  <a:schemeClr val="accent6"/>
                </a:solidFill>
                <a:latin typeface="Aptos Display" panose="020B0004020202020204" pitchFamily="34" charset="0"/>
                <a:ea typeface="+mj-ea"/>
                <a:cs typeface="+mj-cs"/>
              </a:rPr>
              <a:t>An Agent-Based Modeling and Strategic Management Perspective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ED4634-7006-DA09-A1C6-EC7C765FD7CB}"/>
              </a:ext>
            </a:extLst>
          </p:cNvPr>
          <p:cNvSpPr txBox="1">
            <a:spLocks/>
          </p:cNvSpPr>
          <p:nvPr/>
        </p:nvSpPr>
        <p:spPr>
          <a:xfrm>
            <a:off x="1541188" y="5156493"/>
            <a:ext cx="9109624" cy="1974224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Fundamentals of Organization and Strategic Business Management</a:t>
            </a:r>
            <a:endParaRPr lang="fa-IR" sz="16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University OF Genova - January 2026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0B7E54-4B1E-6665-CBFA-234BCFDDC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893" y="-167868"/>
            <a:ext cx="3456215" cy="2073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68" y="978257"/>
            <a:ext cx="6583680" cy="565270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8" y="2694894"/>
            <a:ext cx="8016469" cy="3207344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Healthcare organizations face </a:t>
            </a:r>
            <a:r>
              <a:rPr lang="en-US" sz="2000" b="1" dirty="0"/>
              <a:t>rising demand and limited resources</a:t>
            </a:r>
            <a:endParaRPr lang="en-US" sz="2000" dirty="0"/>
          </a:p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Clinical decision-making is a </a:t>
            </a:r>
            <a:r>
              <a:rPr lang="en-US" sz="2000" b="1" dirty="0"/>
              <a:t>major organizational bottleneck</a:t>
            </a:r>
            <a:endParaRPr lang="en-US" sz="2000" dirty="0"/>
          </a:p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AI tools are usually evaluated only by </a:t>
            </a:r>
            <a:r>
              <a:rPr lang="en-US" sz="2000" b="1" dirty="0"/>
              <a:t>accuracy and usability</a:t>
            </a:r>
            <a:endParaRPr lang="en-US" sz="2000" dirty="0"/>
          </a:p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Organizational performance is often overlooked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06259" y="6234048"/>
            <a:ext cx="542463" cy="471489"/>
          </a:xfrm>
        </p:spPr>
        <p:txBody>
          <a:bodyPr/>
          <a:lstStyle/>
          <a:p>
            <a:pPr algn="ctr"/>
            <a:fld id="{48F63A3B-78C7-47BE-AE5E-E10140E04643}" type="slidenum">
              <a:rPr lang="en-US" sz="2800" smtClean="0">
                <a:solidFill>
                  <a:schemeClr val="bg1"/>
                </a:solidFill>
              </a:rPr>
              <a:pPr algn="ctr"/>
              <a:t>2</a:t>
            </a:fld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E535B89-2D95-1BD3-862B-512FAEDB592A}"/>
              </a:ext>
            </a:extLst>
          </p:cNvPr>
          <p:cNvSpPr txBox="1">
            <a:spLocks/>
          </p:cNvSpPr>
          <p:nvPr/>
        </p:nvSpPr>
        <p:spPr>
          <a:xfrm>
            <a:off x="241168" y="1543527"/>
            <a:ext cx="6583680" cy="323133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The Managerial Problem Behind AI Adoption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3547A1-477A-E207-380C-DECB266CF3B4}"/>
              </a:ext>
            </a:extLst>
          </p:cNvPr>
          <p:cNvSpPr/>
          <p:nvPr/>
        </p:nvSpPr>
        <p:spPr>
          <a:xfrm>
            <a:off x="8401774" y="-50800"/>
            <a:ext cx="3816440" cy="7501467"/>
          </a:xfrm>
          <a:custGeom>
            <a:avLst/>
            <a:gdLst>
              <a:gd name="csX0" fmla="*/ 0 w 3810000"/>
              <a:gd name="csY0" fmla="*/ 3505200 h 7366000"/>
              <a:gd name="csX1" fmla="*/ 2921000 w 3810000"/>
              <a:gd name="csY1" fmla="*/ 8467 h 7366000"/>
              <a:gd name="csX2" fmla="*/ 3810000 w 3810000"/>
              <a:gd name="csY2" fmla="*/ 0 h 7366000"/>
              <a:gd name="csX3" fmla="*/ 3801533 w 3810000"/>
              <a:gd name="csY3" fmla="*/ 3479800 h 7366000"/>
              <a:gd name="csX4" fmla="*/ 135467 w 3810000"/>
              <a:gd name="csY4" fmla="*/ 7366000 h 7366000"/>
              <a:gd name="csX5" fmla="*/ 0 w 3810000"/>
              <a:gd name="csY5" fmla="*/ 3505200 h 7366000"/>
              <a:gd name="csX0" fmla="*/ 5626 w 3815626"/>
              <a:gd name="csY0" fmla="*/ 3505200 h 7357534"/>
              <a:gd name="csX1" fmla="*/ 2926626 w 3815626"/>
              <a:gd name="csY1" fmla="*/ 8467 h 7357534"/>
              <a:gd name="csX2" fmla="*/ 3815626 w 3815626"/>
              <a:gd name="csY2" fmla="*/ 0 h 7357534"/>
              <a:gd name="csX3" fmla="*/ 3807159 w 3815626"/>
              <a:gd name="csY3" fmla="*/ 3479800 h 7357534"/>
              <a:gd name="csX4" fmla="*/ 14093 w 3815626"/>
              <a:gd name="csY4" fmla="*/ 7357534 h 7357534"/>
              <a:gd name="csX5" fmla="*/ 5626 w 3815626"/>
              <a:gd name="csY5" fmla="*/ 3505200 h 7357534"/>
              <a:gd name="csX0" fmla="*/ 5626 w 3815626"/>
              <a:gd name="csY0" fmla="*/ 3505200 h 7501467"/>
              <a:gd name="csX1" fmla="*/ 2926626 w 3815626"/>
              <a:gd name="csY1" fmla="*/ 8467 h 7501467"/>
              <a:gd name="csX2" fmla="*/ 3815626 w 3815626"/>
              <a:gd name="csY2" fmla="*/ 0 h 7501467"/>
              <a:gd name="csX3" fmla="*/ 3807159 w 3815626"/>
              <a:gd name="csY3" fmla="*/ 3479800 h 7501467"/>
              <a:gd name="csX4" fmla="*/ 14093 w 3815626"/>
              <a:gd name="csY4" fmla="*/ 7501467 h 7501467"/>
              <a:gd name="csX5" fmla="*/ 5626 w 3815626"/>
              <a:gd name="csY5" fmla="*/ 3505200 h 7501467"/>
              <a:gd name="csX0" fmla="*/ 5626 w 3816440"/>
              <a:gd name="csY0" fmla="*/ 3505200 h 7501467"/>
              <a:gd name="csX1" fmla="*/ 2926626 w 3816440"/>
              <a:gd name="csY1" fmla="*/ 8467 h 7501467"/>
              <a:gd name="csX2" fmla="*/ 3815626 w 3816440"/>
              <a:gd name="csY2" fmla="*/ 0 h 7501467"/>
              <a:gd name="csX3" fmla="*/ 3815626 w 3816440"/>
              <a:gd name="csY3" fmla="*/ 3437467 h 7501467"/>
              <a:gd name="csX4" fmla="*/ 14093 w 3816440"/>
              <a:gd name="csY4" fmla="*/ 7501467 h 7501467"/>
              <a:gd name="csX5" fmla="*/ 5626 w 3816440"/>
              <a:gd name="csY5" fmla="*/ 3505200 h 7501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816440" h="7501467">
                <a:moveTo>
                  <a:pt x="5626" y="3505200"/>
                </a:moveTo>
                <a:lnTo>
                  <a:pt x="2926626" y="8467"/>
                </a:lnTo>
                <a:lnTo>
                  <a:pt x="3815626" y="0"/>
                </a:lnTo>
                <a:cubicBezTo>
                  <a:pt x="3812804" y="1159933"/>
                  <a:pt x="3818448" y="2277534"/>
                  <a:pt x="3815626" y="3437467"/>
                </a:cubicBezTo>
                <a:lnTo>
                  <a:pt x="14093" y="7501467"/>
                </a:lnTo>
                <a:cubicBezTo>
                  <a:pt x="-31063" y="6214534"/>
                  <a:pt x="50782" y="4792133"/>
                  <a:pt x="5626" y="3505200"/>
                </a:cubicBezTo>
              </a:path>
            </a:pathLst>
          </a:custGeom>
          <a:blipFill>
            <a:blip r:embed="rId3"/>
            <a:srcRect/>
            <a:stretch>
              <a:fillRect l="-80655" t="679" r="-92093" b="790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DEF3FA2-3E56-66D8-403B-07393912DF95}"/>
              </a:ext>
            </a:extLst>
          </p:cNvPr>
          <p:cNvSpPr txBox="1">
            <a:spLocks/>
          </p:cNvSpPr>
          <p:nvPr/>
        </p:nvSpPr>
        <p:spPr>
          <a:xfrm>
            <a:off x="130628" y="5879743"/>
            <a:ext cx="8271146" cy="662765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0" cap="none" dirty="0">
                <a:latin typeface="+mn-lt"/>
              </a:rPr>
              <a:t>*Improving task-level accuracy </a:t>
            </a:r>
            <a:r>
              <a:rPr lang="en-US" sz="1600" b="0" u="sng" cap="none" dirty="0">
                <a:latin typeface="+mn-lt"/>
              </a:rPr>
              <a:t>does not </a:t>
            </a:r>
            <a:r>
              <a:rPr lang="en-US" sz="1600" b="0" cap="none" dirty="0">
                <a:latin typeface="+mn-lt"/>
              </a:rPr>
              <a:t>automatically improve organizational efficiency*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59" y="353479"/>
            <a:ext cx="6558394" cy="1626575"/>
          </a:xfrm>
        </p:spPr>
        <p:txBody>
          <a:bodyPr/>
          <a:lstStyle/>
          <a:p>
            <a:r>
              <a:rPr lang="en-US" dirty="0"/>
              <a:t>Research Gap &amp; Research Objective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936FD11-7A90-8B78-81C9-2822554F03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9657805"/>
              </p:ext>
            </p:extLst>
          </p:nvPr>
        </p:nvGraphicFramePr>
        <p:xfrm>
          <a:off x="446887" y="2096932"/>
          <a:ext cx="10917799" cy="4090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AE68780-DA25-118C-283C-B83E318C4A65}"/>
              </a:ext>
            </a:extLst>
          </p:cNvPr>
          <p:cNvSpPr txBox="1"/>
          <p:nvPr/>
        </p:nvSpPr>
        <p:spPr>
          <a:xfrm>
            <a:off x="2591946" y="6396075"/>
            <a:ext cx="9522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a-IR" sz="1600" dirty="0">
                <a:solidFill>
                  <a:schemeClr val="accent6"/>
                </a:solidFill>
                <a:ea typeface="+mj-ea"/>
                <a:cs typeface="+mj-cs"/>
              </a:rPr>
              <a:t>*</a:t>
            </a:r>
            <a:r>
              <a:rPr lang="en-US" sz="1600" dirty="0">
                <a:solidFill>
                  <a:schemeClr val="accent6"/>
                </a:solidFill>
                <a:ea typeface="+mj-ea"/>
                <a:cs typeface="+mj-cs"/>
              </a:rPr>
              <a:t>Real Gap: From “Does AI work?” to “Does AI improve organizational value?”</a:t>
            </a:r>
            <a:r>
              <a:rPr lang="fa-IR" sz="1600" dirty="0">
                <a:solidFill>
                  <a:schemeClr val="accent6"/>
                </a:solidFill>
                <a:ea typeface="+mj-ea"/>
                <a:cs typeface="+mj-cs"/>
              </a:rPr>
              <a:t>*</a:t>
            </a:r>
            <a:endParaRPr lang="en-US" sz="1600" dirty="0">
              <a:solidFill>
                <a:schemeClr val="accent6"/>
              </a:solidFill>
              <a:ea typeface="+mj-ea"/>
              <a:cs typeface="+mj-cs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CA42F09-156D-5C25-61B5-7A64B479D8C8}"/>
              </a:ext>
            </a:extLst>
          </p:cNvPr>
          <p:cNvSpPr txBox="1">
            <a:spLocks/>
          </p:cNvSpPr>
          <p:nvPr/>
        </p:nvSpPr>
        <p:spPr>
          <a:xfrm>
            <a:off x="9785019" y="560170"/>
            <a:ext cx="542463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sz="2800" smtClean="0">
                <a:solidFill>
                  <a:schemeClr val="bg1"/>
                </a:solidFill>
                <a:latin typeface="+mj-lt"/>
              </a:rPr>
              <a:pPr algn="ctr"/>
              <a:t>3</a:t>
            </a:fld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8" y="-448368"/>
            <a:ext cx="7734586" cy="1204662"/>
          </a:xfrm>
        </p:spPr>
        <p:txBody>
          <a:bodyPr/>
          <a:lstStyle/>
          <a:p>
            <a:r>
              <a:rPr lang="en-US" dirty="0"/>
              <a:t>Conceptual Framework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F29B98-1805-3742-3BDC-54FB2C50CDBF}"/>
              </a:ext>
            </a:extLst>
          </p:cNvPr>
          <p:cNvSpPr txBox="1">
            <a:spLocks/>
          </p:cNvSpPr>
          <p:nvPr/>
        </p:nvSpPr>
        <p:spPr>
          <a:xfrm>
            <a:off x="673768" y="759780"/>
            <a:ext cx="6583680" cy="323133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A system perspective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89A90D4-1360-BC91-3DA6-069E093E82F7}"/>
              </a:ext>
            </a:extLst>
          </p:cNvPr>
          <p:cNvSpPr txBox="1">
            <a:spLocks/>
          </p:cNvSpPr>
          <p:nvPr/>
        </p:nvSpPr>
        <p:spPr>
          <a:xfrm>
            <a:off x="673768" y="1209877"/>
            <a:ext cx="9377757" cy="5175263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/>
              <a:t>Healthcare organizations are </a:t>
            </a:r>
            <a:r>
              <a:rPr lang="en-US" sz="2000" b="1" u="sng" dirty="0"/>
              <a:t>complex adaptive systems.</a:t>
            </a:r>
            <a:endParaRPr lang="en-US" sz="2000" u="sng" dirty="0"/>
          </a:p>
          <a:p>
            <a:pPr>
              <a:lnSpc>
                <a:spcPct val="150000"/>
              </a:lnSpc>
            </a:pPr>
            <a:r>
              <a:rPr lang="en-US" sz="2000" dirty="0"/>
              <a:t>Performance emerges from: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Interactions between patients, clinicians, and resources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Time delays and feedback loops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Two types of variability: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Natural variability</a:t>
            </a:r>
            <a:r>
              <a:rPr lang="en-US" sz="2000" dirty="0"/>
              <a:t> (patient heterogeneity)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Artificial variability</a:t>
            </a:r>
            <a:r>
              <a:rPr lang="en-US" sz="2000" dirty="0"/>
              <a:t> (decision delays, poor coordination)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AI acts by: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Reducing </a:t>
            </a:r>
            <a:r>
              <a:rPr lang="en-US" sz="2000" b="1" dirty="0"/>
              <a:t>decision latency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Reducing </a:t>
            </a:r>
            <a:r>
              <a:rPr lang="en-US" sz="2000" b="1" dirty="0"/>
              <a:t>variability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Stabilizing system dynamics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978ACF3-2D1F-FD4F-5E7D-5D1A4374D189}"/>
              </a:ext>
            </a:extLst>
          </p:cNvPr>
          <p:cNvSpPr/>
          <p:nvPr/>
        </p:nvSpPr>
        <p:spPr>
          <a:xfrm>
            <a:off x="9230807" y="202607"/>
            <a:ext cx="2005823" cy="1114346"/>
          </a:xfrm>
          <a:custGeom>
            <a:avLst/>
            <a:gdLst>
              <a:gd name="csX0" fmla="*/ 0 w 2005823"/>
              <a:gd name="csY0" fmla="*/ 111435 h 1114346"/>
              <a:gd name="csX1" fmla="*/ 111435 w 2005823"/>
              <a:gd name="csY1" fmla="*/ 0 h 1114346"/>
              <a:gd name="csX2" fmla="*/ 1894388 w 2005823"/>
              <a:gd name="csY2" fmla="*/ 0 h 1114346"/>
              <a:gd name="csX3" fmla="*/ 2005823 w 2005823"/>
              <a:gd name="csY3" fmla="*/ 111435 h 1114346"/>
              <a:gd name="csX4" fmla="*/ 2005823 w 2005823"/>
              <a:gd name="csY4" fmla="*/ 1002911 h 1114346"/>
              <a:gd name="csX5" fmla="*/ 1894388 w 2005823"/>
              <a:gd name="csY5" fmla="*/ 1114346 h 1114346"/>
              <a:gd name="csX6" fmla="*/ 111435 w 2005823"/>
              <a:gd name="csY6" fmla="*/ 1114346 h 1114346"/>
              <a:gd name="csX7" fmla="*/ 0 w 2005823"/>
              <a:gd name="csY7" fmla="*/ 1002911 h 1114346"/>
              <a:gd name="csX8" fmla="*/ 0 w 2005823"/>
              <a:gd name="csY8" fmla="*/ 111435 h 1114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5823" h="1114346">
                <a:moveTo>
                  <a:pt x="0" y="111435"/>
                </a:moveTo>
                <a:cubicBezTo>
                  <a:pt x="0" y="49891"/>
                  <a:pt x="49891" y="0"/>
                  <a:pt x="111435" y="0"/>
                </a:cubicBezTo>
                <a:lnTo>
                  <a:pt x="1894388" y="0"/>
                </a:lnTo>
                <a:cubicBezTo>
                  <a:pt x="1955932" y="0"/>
                  <a:pt x="2005823" y="49891"/>
                  <a:pt x="2005823" y="111435"/>
                </a:cubicBezTo>
                <a:lnTo>
                  <a:pt x="2005823" y="1002911"/>
                </a:lnTo>
                <a:cubicBezTo>
                  <a:pt x="2005823" y="1064455"/>
                  <a:pt x="1955932" y="1114346"/>
                  <a:pt x="1894388" y="1114346"/>
                </a:cubicBezTo>
                <a:lnTo>
                  <a:pt x="111435" y="1114346"/>
                </a:lnTo>
                <a:cubicBezTo>
                  <a:pt x="49891" y="1114346"/>
                  <a:pt x="0" y="1064455"/>
                  <a:pt x="0" y="1002911"/>
                </a:cubicBezTo>
                <a:lnTo>
                  <a:pt x="0" y="111435"/>
                </a:lnTo>
                <a:close/>
              </a:path>
            </a:pathLst>
          </a:custGeom>
          <a:scene3d>
            <a:camera prst="isometricOffAxis2Left" zoom="95000"/>
            <a:lightRig rig="flat" dir="t"/>
          </a:scene3d>
          <a:sp3d extrusionH="381000" contourW="38100" prstMaterial="matte">
            <a:contourClr>
              <a:schemeClr val="lt1"/>
            </a:contourClr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0268" tIns="120268" rIns="120268" bIns="120268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 dirty="0"/>
              <a:t>Decision Delays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FE939C2-2662-6030-39FF-DD61F1FE07D2}"/>
              </a:ext>
            </a:extLst>
          </p:cNvPr>
          <p:cNvSpPr/>
          <p:nvPr/>
        </p:nvSpPr>
        <p:spPr>
          <a:xfrm>
            <a:off x="9982991" y="1386600"/>
            <a:ext cx="501455" cy="417879"/>
          </a:xfrm>
          <a:custGeom>
            <a:avLst/>
            <a:gdLst>
              <a:gd name="csX0" fmla="*/ 0 w 417879"/>
              <a:gd name="csY0" fmla="*/ 100291 h 501455"/>
              <a:gd name="csX1" fmla="*/ 208940 w 417879"/>
              <a:gd name="csY1" fmla="*/ 100291 h 501455"/>
              <a:gd name="csX2" fmla="*/ 208940 w 417879"/>
              <a:gd name="csY2" fmla="*/ 0 h 501455"/>
              <a:gd name="csX3" fmla="*/ 417879 w 417879"/>
              <a:gd name="csY3" fmla="*/ 250728 h 501455"/>
              <a:gd name="csX4" fmla="*/ 208940 w 417879"/>
              <a:gd name="csY4" fmla="*/ 501455 h 501455"/>
              <a:gd name="csX5" fmla="*/ 208940 w 417879"/>
              <a:gd name="csY5" fmla="*/ 401164 h 501455"/>
              <a:gd name="csX6" fmla="*/ 0 w 417879"/>
              <a:gd name="csY6" fmla="*/ 401164 h 501455"/>
              <a:gd name="csX7" fmla="*/ 0 w 417879"/>
              <a:gd name="csY7" fmla="*/ 100291 h 501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7879" h="501455">
                <a:moveTo>
                  <a:pt x="334303" y="1"/>
                </a:moveTo>
                <a:lnTo>
                  <a:pt x="334303" y="250728"/>
                </a:lnTo>
                <a:lnTo>
                  <a:pt x="417879" y="250728"/>
                </a:lnTo>
                <a:lnTo>
                  <a:pt x="208939" y="501454"/>
                </a:lnTo>
                <a:lnTo>
                  <a:pt x="0" y="250728"/>
                </a:lnTo>
                <a:lnTo>
                  <a:pt x="83576" y="250728"/>
                </a:lnTo>
                <a:lnTo>
                  <a:pt x="83576" y="1"/>
                </a:lnTo>
                <a:lnTo>
                  <a:pt x="334303" y="1"/>
                </a:lnTo>
                <a:close/>
              </a:path>
            </a:pathLst>
          </a:custGeom>
          <a:scene3d>
            <a:camera prst="isometricOffAxis2Left" zoom="95000"/>
            <a:lightRig rig="flat" dir="t"/>
          </a:scene3d>
          <a:sp3d z="-52400" extrusionH="181000" contourW="38100" prstMaterial="matte">
            <a:contourClr>
              <a:schemeClr val="lt1"/>
            </a:contourClr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291" tIns="0" rIns="100291" bIns="125364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700" kern="12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05AD025-223A-3916-0606-B90B1D1C086B}"/>
              </a:ext>
            </a:extLst>
          </p:cNvPr>
          <p:cNvSpPr/>
          <p:nvPr/>
        </p:nvSpPr>
        <p:spPr>
          <a:xfrm>
            <a:off x="9230807" y="1874126"/>
            <a:ext cx="2005823" cy="1114346"/>
          </a:xfrm>
          <a:custGeom>
            <a:avLst/>
            <a:gdLst>
              <a:gd name="csX0" fmla="*/ 0 w 2005823"/>
              <a:gd name="csY0" fmla="*/ 111435 h 1114346"/>
              <a:gd name="csX1" fmla="*/ 111435 w 2005823"/>
              <a:gd name="csY1" fmla="*/ 0 h 1114346"/>
              <a:gd name="csX2" fmla="*/ 1894388 w 2005823"/>
              <a:gd name="csY2" fmla="*/ 0 h 1114346"/>
              <a:gd name="csX3" fmla="*/ 2005823 w 2005823"/>
              <a:gd name="csY3" fmla="*/ 111435 h 1114346"/>
              <a:gd name="csX4" fmla="*/ 2005823 w 2005823"/>
              <a:gd name="csY4" fmla="*/ 1002911 h 1114346"/>
              <a:gd name="csX5" fmla="*/ 1894388 w 2005823"/>
              <a:gd name="csY5" fmla="*/ 1114346 h 1114346"/>
              <a:gd name="csX6" fmla="*/ 111435 w 2005823"/>
              <a:gd name="csY6" fmla="*/ 1114346 h 1114346"/>
              <a:gd name="csX7" fmla="*/ 0 w 2005823"/>
              <a:gd name="csY7" fmla="*/ 1002911 h 1114346"/>
              <a:gd name="csX8" fmla="*/ 0 w 2005823"/>
              <a:gd name="csY8" fmla="*/ 111435 h 1114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5823" h="1114346">
                <a:moveTo>
                  <a:pt x="0" y="111435"/>
                </a:moveTo>
                <a:cubicBezTo>
                  <a:pt x="0" y="49891"/>
                  <a:pt x="49891" y="0"/>
                  <a:pt x="111435" y="0"/>
                </a:cubicBezTo>
                <a:lnTo>
                  <a:pt x="1894388" y="0"/>
                </a:lnTo>
                <a:cubicBezTo>
                  <a:pt x="1955932" y="0"/>
                  <a:pt x="2005823" y="49891"/>
                  <a:pt x="2005823" y="111435"/>
                </a:cubicBezTo>
                <a:lnTo>
                  <a:pt x="2005823" y="1002911"/>
                </a:lnTo>
                <a:cubicBezTo>
                  <a:pt x="2005823" y="1064455"/>
                  <a:pt x="1955932" y="1114346"/>
                  <a:pt x="1894388" y="1114346"/>
                </a:cubicBezTo>
                <a:lnTo>
                  <a:pt x="111435" y="1114346"/>
                </a:lnTo>
                <a:cubicBezTo>
                  <a:pt x="49891" y="1114346"/>
                  <a:pt x="0" y="1064455"/>
                  <a:pt x="0" y="1002911"/>
                </a:cubicBezTo>
                <a:lnTo>
                  <a:pt x="0" y="111435"/>
                </a:lnTo>
                <a:close/>
              </a:path>
            </a:pathLst>
          </a:custGeom>
          <a:scene3d>
            <a:camera prst="isometricOffAxis2Left" zoom="95000"/>
            <a:lightRig rig="flat" dir="t"/>
          </a:scene3d>
          <a:sp3d extrusionH="381000" contourW="38100" prstMaterial="matte">
            <a:contourClr>
              <a:schemeClr val="lt1"/>
            </a:contourClr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0268" tIns="120268" rIns="120268" bIns="120268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 dirty="0"/>
              <a:t>Patient Deterioration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877300-2BAB-BB91-C0D8-FBA31263C124}"/>
              </a:ext>
            </a:extLst>
          </p:cNvPr>
          <p:cNvSpPr/>
          <p:nvPr/>
        </p:nvSpPr>
        <p:spPr>
          <a:xfrm>
            <a:off x="9982991" y="3058119"/>
            <a:ext cx="501455" cy="417879"/>
          </a:xfrm>
          <a:custGeom>
            <a:avLst/>
            <a:gdLst>
              <a:gd name="csX0" fmla="*/ 0 w 417879"/>
              <a:gd name="csY0" fmla="*/ 100291 h 501455"/>
              <a:gd name="csX1" fmla="*/ 208940 w 417879"/>
              <a:gd name="csY1" fmla="*/ 100291 h 501455"/>
              <a:gd name="csX2" fmla="*/ 208940 w 417879"/>
              <a:gd name="csY2" fmla="*/ 0 h 501455"/>
              <a:gd name="csX3" fmla="*/ 417879 w 417879"/>
              <a:gd name="csY3" fmla="*/ 250728 h 501455"/>
              <a:gd name="csX4" fmla="*/ 208940 w 417879"/>
              <a:gd name="csY4" fmla="*/ 501455 h 501455"/>
              <a:gd name="csX5" fmla="*/ 208940 w 417879"/>
              <a:gd name="csY5" fmla="*/ 401164 h 501455"/>
              <a:gd name="csX6" fmla="*/ 0 w 417879"/>
              <a:gd name="csY6" fmla="*/ 401164 h 501455"/>
              <a:gd name="csX7" fmla="*/ 0 w 417879"/>
              <a:gd name="csY7" fmla="*/ 100291 h 501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7879" h="501455">
                <a:moveTo>
                  <a:pt x="334303" y="1"/>
                </a:moveTo>
                <a:lnTo>
                  <a:pt x="334303" y="250728"/>
                </a:lnTo>
                <a:lnTo>
                  <a:pt x="417879" y="250728"/>
                </a:lnTo>
                <a:lnTo>
                  <a:pt x="208939" y="501454"/>
                </a:lnTo>
                <a:lnTo>
                  <a:pt x="0" y="250728"/>
                </a:lnTo>
                <a:lnTo>
                  <a:pt x="83576" y="250728"/>
                </a:lnTo>
                <a:lnTo>
                  <a:pt x="83576" y="1"/>
                </a:lnTo>
                <a:lnTo>
                  <a:pt x="334303" y="1"/>
                </a:lnTo>
                <a:close/>
              </a:path>
            </a:pathLst>
          </a:custGeom>
          <a:scene3d>
            <a:camera prst="isometricOffAxis2Left" zoom="95000"/>
            <a:lightRig rig="flat" dir="t"/>
          </a:scene3d>
          <a:sp3d z="-52400" extrusionH="181000" contourW="38100" prstMaterial="matte">
            <a:contourClr>
              <a:schemeClr val="lt1"/>
            </a:contourClr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291" tIns="0" rIns="100291" bIns="125364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700" kern="120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A96D28D-D255-2A0A-4B2D-D00AF8AE9677}"/>
              </a:ext>
            </a:extLst>
          </p:cNvPr>
          <p:cNvSpPr/>
          <p:nvPr/>
        </p:nvSpPr>
        <p:spPr>
          <a:xfrm>
            <a:off x="9230807" y="3545646"/>
            <a:ext cx="2005823" cy="1114346"/>
          </a:xfrm>
          <a:custGeom>
            <a:avLst/>
            <a:gdLst>
              <a:gd name="csX0" fmla="*/ 0 w 2005823"/>
              <a:gd name="csY0" fmla="*/ 111435 h 1114346"/>
              <a:gd name="csX1" fmla="*/ 111435 w 2005823"/>
              <a:gd name="csY1" fmla="*/ 0 h 1114346"/>
              <a:gd name="csX2" fmla="*/ 1894388 w 2005823"/>
              <a:gd name="csY2" fmla="*/ 0 h 1114346"/>
              <a:gd name="csX3" fmla="*/ 2005823 w 2005823"/>
              <a:gd name="csY3" fmla="*/ 111435 h 1114346"/>
              <a:gd name="csX4" fmla="*/ 2005823 w 2005823"/>
              <a:gd name="csY4" fmla="*/ 1002911 h 1114346"/>
              <a:gd name="csX5" fmla="*/ 1894388 w 2005823"/>
              <a:gd name="csY5" fmla="*/ 1114346 h 1114346"/>
              <a:gd name="csX6" fmla="*/ 111435 w 2005823"/>
              <a:gd name="csY6" fmla="*/ 1114346 h 1114346"/>
              <a:gd name="csX7" fmla="*/ 0 w 2005823"/>
              <a:gd name="csY7" fmla="*/ 1002911 h 1114346"/>
              <a:gd name="csX8" fmla="*/ 0 w 2005823"/>
              <a:gd name="csY8" fmla="*/ 111435 h 1114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5823" h="1114346">
                <a:moveTo>
                  <a:pt x="0" y="111435"/>
                </a:moveTo>
                <a:cubicBezTo>
                  <a:pt x="0" y="49891"/>
                  <a:pt x="49891" y="0"/>
                  <a:pt x="111435" y="0"/>
                </a:cubicBezTo>
                <a:lnTo>
                  <a:pt x="1894388" y="0"/>
                </a:lnTo>
                <a:cubicBezTo>
                  <a:pt x="1955932" y="0"/>
                  <a:pt x="2005823" y="49891"/>
                  <a:pt x="2005823" y="111435"/>
                </a:cubicBezTo>
                <a:lnTo>
                  <a:pt x="2005823" y="1002911"/>
                </a:lnTo>
                <a:cubicBezTo>
                  <a:pt x="2005823" y="1064455"/>
                  <a:pt x="1955932" y="1114346"/>
                  <a:pt x="1894388" y="1114346"/>
                </a:cubicBezTo>
                <a:lnTo>
                  <a:pt x="111435" y="1114346"/>
                </a:lnTo>
                <a:cubicBezTo>
                  <a:pt x="49891" y="1114346"/>
                  <a:pt x="0" y="1064455"/>
                  <a:pt x="0" y="1002911"/>
                </a:cubicBezTo>
                <a:lnTo>
                  <a:pt x="0" y="111435"/>
                </a:lnTo>
                <a:close/>
              </a:path>
            </a:pathLst>
          </a:custGeom>
          <a:scene3d>
            <a:camera prst="isometricOffAxis2Left" zoom="95000"/>
            <a:lightRig rig="flat" dir="t"/>
          </a:scene3d>
          <a:sp3d extrusionH="381000" contourW="38100" prstMaterial="matte">
            <a:contourClr>
              <a:schemeClr val="lt1"/>
            </a:contourClr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0268" tIns="120268" rIns="120268" bIns="120268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/>
              <a:t>Longer LOS &amp; Congestion</a:t>
            </a:r>
            <a:endParaRPr lang="en-US" sz="2300" kern="12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2F02933-3BA6-E74A-84DB-E675A7182F71}"/>
              </a:ext>
            </a:extLst>
          </p:cNvPr>
          <p:cNvSpPr/>
          <p:nvPr/>
        </p:nvSpPr>
        <p:spPr>
          <a:xfrm flipV="1">
            <a:off x="9982991" y="4729638"/>
            <a:ext cx="501455" cy="417879"/>
          </a:xfrm>
          <a:custGeom>
            <a:avLst/>
            <a:gdLst>
              <a:gd name="csX0" fmla="*/ 0 w 417879"/>
              <a:gd name="csY0" fmla="*/ 100291 h 501455"/>
              <a:gd name="csX1" fmla="*/ 208940 w 417879"/>
              <a:gd name="csY1" fmla="*/ 100291 h 501455"/>
              <a:gd name="csX2" fmla="*/ 208940 w 417879"/>
              <a:gd name="csY2" fmla="*/ 0 h 501455"/>
              <a:gd name="csX3" fmla="*/ 417879 w 417879"/>
              <a:gd name="csY3" fmla="*/ 250728 h 501455"/>
              <a:gd name="csX4" fmla="*/ 208940 w 417879"/>
              <a:gd name="csY4" fmla="*/ 501455 h 501455"/>
              <a:gd name="csX5" fmla="*/ 208940 w 417879"/>
              <a:gd name="csY5" fmla="*/ 401164 h 501455"/>
              <a:gd name="csX6" fmla="*/ 0 w 417879"/>
              <a:gd name="csY6" fmla="*/ 401164 h 501455"/>
              <a:gd name="csX7" fmla="*/ 0 w 417879"/>
              <a:gd name="csY7" fmla="*/ 100291 h 501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7879" h="501455">
                <a:moveTo>
                  <a:pt x="334303" y="1"/>
                </a:moveTo>
                <a:lnTo>
                  <a:pt x="334303" y="250728"/>
                </a:lnTo>
                <a:lnTo>
                  <a:pt x="417879" y="250728"/>
                </a:lnTo>
                <a:lnTo>
                  <a:pt x="208939" y="501454"/>
                </a:lnTo>
                <a:lnTo>
                  <a:pt x="0" y="250728"/>
                </a:lnTo>
                <a:lnTo>
                  <a:pt x="83576" y="250728"/>
                </a:lnTo>
                <a:lnTo>
                  <a:pt x="83576" y="1"/>
                </a:lnTo>
                <a:lnTo>
                  <a:pt x="334303" y="1"/>
                </a:lnTo>
                <a:close/>
              </a:path>
            </a:pathLst>
          </a:custGeom>
          <a:scene3d>
            <a:camera prst="isometricOffAxis2Left" zoom="95000"/>
            <a:lightRig rig="flat" dir="t"/>
          </a:scene3d>
          <a:sp3d z="-52400" extrusionH="181000" contourW="38100" prstMaterial="matte">
            <a:contourClr>
              <a:schemeClr val="lt1"/>
            </a:contourClr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291" tIns="0" rIns="100291" bIns="125364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700" kern="120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E7EF438-C098-F6E0-C89F-22E52436DD80}"/>
              </a:ext>
            </a:extLst>
          </p:cNvPr>
          <p:cNvSpPr/>
          <p:nvPr/>
        </p:nvSpPr>
        <p:spPr>
          <a:xfrm>
            <a:off x="9230807" y="5217165"/>
            <a:ext cx="2005823" cy="1114346"/>
          </a:xfrm>
          <a:custGeom>
            <a:avLst/>
            <a:gdLst>
              <a:gd name="csX0" fmla="*/ 0 w 2005823"/>
              <a:gd name="csY0" fmla="*/ 111435 h 1114346"/>
              <a:gd name="csX1" fmla="*/ 111435 w 2005823"/>
              <a:gd name="csY1" fmla="*/ 0 h 1114346"/>
              <a:gd name="csX2" fmla="*/ 1894388 w 2005823"/>
              <a:gd name="csY2" fmla="*/ 0 h 1114346"/>
              <a:gd name="csX3" fmla="*/ 2005823 w 2005823"/>
              <a:gd name="csY3" fmla="*/ 111435 h 1114346"/>
              <a:gd name="csX4" fmla="*/ 2005823 w 2005823"/>
              <a:gd name="csY4" fmla="*/ 1002911 h 1114346"/>
              <a:gd name="csX5" fmla="*/ 1894388 w 2005823"/>
              <a:gd name="csY5" fmla="*/ 1114346 h 1114346"/>
              <a:gd name="csX6" fmla="*/ 111435 w 2005823"/>
              <a:gd name="csY6" fmla="*/ 1114346 h 1114346"/>
              <a:gd name="csX7" fmla="*/ 0 w 2005823"/>
              <a:gd name="csY7" fmla="*/ 1002911 h 1114346"/>
              <a:gd name="csX8" fmla="*/ 0 w 2005823"/>
              <a:gd name="csY8" fmla="*/ 111435 h 1114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5823" h="1114346">
                <a:moveTo>
                  <a:pt x="0" y="111435"/>
                </a:moveTo>
                <a:cubicBezTo>
                  <a:pt x="0" y="49891"/>
                  <a:pt x="49891" y="0"/>
                  <a:pt x="111435" y="0"/>
                </a:cubicBezTo>
                <a:lnTo>
                  <a:pt x="1894388" y="0"/>
                </a:lnTo>
                <a:cubicBezTo>
                  <a:pt x="1955932" y="0"/>
                  <a:pt x="2005823" y="49891"/>
                  <a:pt x="2005823" y="111435"/>
                </a:cubicBezTo>
                <a:lnTo>
                  <a:pt x="2005823" y="1002911"/>
                </a:lnTo>
                <a:cubicBezTo>
                  <a:pt x="2005823" y="1064455"/>
                  <a:pt x="1955932" y="1114346"/>
                  <a:pt x="1894388" y="1114346"/>
                </a:cubicBezTo>
                <a:lnTo>
                  <a:pt x="111435" y="1114346"/>
                </a:lnTo>
                <a:cubicBezTo>
                  <a:pt x="49891" y="1114346"/>
                  <a:pt x="0" y="1064455"/>
                  <a:pt x="0" y="1002911"/>
                </a:cubicBezTo>
                <a:lnTo>
                  <a:pt x="0" y="111435"/>
                </a:lnTo>
                <a:close/>
              </a:path>
            </a:pathLst>
          </a:custGeom>
          <a:scene3d>
            <a:camera prst="isometricOffAxis2Left" zoom="95000"/>
            <a:lightRig rig="flat" dir="t"/>
          </a:scene3d>
          <a:sp3d extrusionH="381000" contourW="38100" prstMaterial="matte">
            <a:contourClr>
              <a:schemeClr val="lt1"/>
            </a:contourClr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0268" tIns="120268" rIns="120268" bIns="120268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/>
              <a:t>Feedback Loop</a:t>
            </a:r>
            <a:endParaRPr lang="en-US" sz="2300" kern="1200" dirty="0"/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51B5994-EAEA-26F3-BDB8-E58131FEF9FE}"/>
              </a:ext>
            </a:extLst>
          </p:cNvPr>
          <p:cNvSpPr txBox="1">
            <a:spLocks/>
          </p:cNvSpPr>
          <p:nvPr/>
        </p:nvSpPr>
        <p:spPr>
          <a:xfrm>
            <a:off x="6808195" y="5927762"/>
            <a:ext cx="542463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sz="2800" smtClean="0">
                <a:solidFill>
                  <a:schemeClr val="bg1"/>
                </a:solidFill>
                <a:latin typeface="+mj-lt"/>
              </a:rPr>
              <a:pPr algn="ctr"/>
              <a:t>4</a:t>
            </a:fld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AD4637-C12C-70AC-BFE1-432A434133A3}"/>
              </a:ext>
            </a:extLst>
          </p:cNvPr>
          <p:cNvSpPr txBox="1"/>
          <p:nvPr/>
        </p:nvSpPr>
        <p:spPr>
          <a:xfrm>
            <a:off x="2165467" y="6481369"/>
            <a:ext cx="100790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1600" dirty="0">
                <a:solidFill>
                  <a:schemeClr val="accent6"/>
                </a:solidFill>
                <a:ea typeface="+mj-ea"/>
                <a:cs typeface="+mj-cs"/>
              </a:rPr>
              <a:t>*</a:t>
            </a:r>
            <a:r>
              <a:rPr lang="en-US" sz="1600" dirty="0">
                <a:solidFill>
                  <a:schemeClr val="accent6"/>
                </a:solidFill>
                <a:ea typeface="+mj-ea"/>
                <a:cs typeface="+mj-cs"/>
              </a:rPr>
              <a:t>AI improves performance by reshaping feedback loops, not by increasing capacity.</a:t>
            </a:r>
            <a:r>
              <a:rPr lang="fa-IR" sz="1600" dirty="0">
                <a:solidFill>
                  <a:schemeClr val="accent6"/>
                </a:solidFill>
                <a:ea typeface="+mj-ea"/>
                <a:cs typeface="+mj-cs"/>
              </a:rPr>
              <a:t>*</a:t>
            </a:r>
            <a:endParaRPr lang="en-US" sz="1600" dirty="0">
              <a:solidFill>
                <a:schemeClr val="accent6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6528" y="159798"/>
            <a:ext cx="9819965" cy="1163671"/>
          </a:xfrm>
        </p:spPr>
        <p:txBody>
          <a:bodyPr/>
          <a:lstStyle/>
          <a:p>
            <a:r>
              <a:rPr lang="it-IT" dirty="0" err="1"/>
              <a:t>Methodology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/>
              <a:t>Agent-</a:t>
            </a:r>
            <a:r>
              <a:rPr lang="it-IT" dirty="0" err="1"/>
              <a:t>Based</a:t>
            </a:r>
            <a:r>
              <a:rPr lang="it-IT" dirty="0"/>
              <a:t> Modeling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28791" y="3791779"/>
            <a:ext cx="9565472" cy="3497698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it-IT" dirty="0"/>
              <a:t>Healthcare systems exhibit: </a:t>
            </a:r>
          </a:p>
          <a:p>
            <a:r>
              <a:rPr lang="it-IT" dirty="0" err="1"/>
              <a:t>Heterogeneous</a:t>
            </a:r>
            <a:r>
              <a:rPr lang="it-IT" dirty="0"/>
              <a:t> </a:t>
            </a:r>
            <a:r>
              <a:rPr lang="it-IT" dirty="0" err="1"/>
              <a:t>actors</a:t>
            </a:r>
            <a:r>
              <a:rPr lang="it-IT" dirty="0"/>
              <a:t> </a:t>
            </a:r>
          </a:p>
          <a:p>
            <a:r>
              <a:rPr lang="it-IT" dirty="0" err="1"/>
              <a:t>Nonlinear</a:t>
            </a:r>
            <a:r>
              <a:rPr lang="it-IT" dirty="0"/>
              <a:t> </a:t>
            </a:r>
            <a:r>
              <a:rPr lang="it-IT" dirty="0" err="1"/>
              <a:t>interactions</a:t>
            </a:r>
            <a:r>
              <a:rPr lang="it-IT" dirty="0"/>
              <a:t> </a:t>
            </a:r>
          </a:p>
          <a:p>
            <a:r>
              <a:rPr lang="it-IT" dirty="0"/>
              <a:t>Feedback loops and </a:t>
            </a:r>
            <a:r>
              <a:rPr lang="it-IT" dirty="0" err="1"/>
              <a:t>delays</a:t>
            </a:r>
            <a:r>
              <a:rPr lang="it-IT" dirty="0"/>
              <a:t> </a:t>
            </a:r>
          </a:p>
          <a:p>
            <a:pPr marL="0" indent="0">
              <a:buNone/>
            </a:pPr>
            <a:r>
              <a:rPr lang="it-IT" b="1" u="sng" dirty="0"/>
              <a:t>Agent-</a:t>
            </a:r>
            <a:r>
              <a:rPr lang="it-IT" b="1" u="sng" dirty="0" err="1"/>
              <a:t>Based</a:t>
            </a:r>
            <a:r>
              <a:rPr lang="it-IT" b="1" u="sng" dirty="0"/>
              <a:t> Modeling </a:t>
            </a:r>
            <a:r>
              <a:rPr lang="it-IT" b="1" dirty="0"/>
              <a:t>(ABM)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well-suited</a:t>
            </a:r>
            <a:r>
              <a:rPr lang="it-IT" dirty="0"/>
              <a:t> to capture </a:t>
            </a:r>
            <a:r>
              <a:rPr lang="it-IT" dirty="0" err="1"/>
              <a:t>these</a:t>
            </a:r>
            <a:r>
              <a:rPr lang="it-IT" dirty="0"/>
              <a:t> dynamics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Agents </a:t>
            </a:r>
            <a:r>
              <a:rPr lang="it-IT" dirty="0" err="1"/>
              <a:t>modeled</a:t>
            </a:r>
            <a:r>
              <a:rPr lang="it-IT" dirty="0"/>
              <a:t>: </a:t>
            </a:r>
          </a:p>
          <a:p>
            <a:r>
              <a:rPr lang="it-IT" b="1" dirty="0" err="1"/>
              <a:t>Patients</a:t>
            </a:r>
            <a:r>
              <a:rPr lang="it-IT" dirty="0"/>
              <a:t> (</a:t>
            </a:r>
            <a:r>
              <a:rPr lang="it-IT" dirty="0" err="1"/>
              <a:t>arrival</a:t>
            </a:r>
            <a:r>
              <a:rPr lang="it-IT" dirty="0"/>
              <a:t>, </a:t>
            </a:r>
            <a:r>
              <a:rPr lang="it-IT" dirty="0" err="1"/>
              <a:t>waiting</a:t>
            </a:r>
            <a:r>
              <a:rPr lang="it-IT" dirty="0"/>
              <a:t>, </a:t>
            </a:r>
            <a:r>
              <a:rPr lang="it-IT" dirty="0" err="1"/>
              <a:t>deterioration</a:t>
            </a:r>
            <a:r>
              <a:rPr lang="it-IT" dirty="0"/>
              <a:t>) </a:t>
            </a:r>
          </a:p>
          <a:p>
            <a:r>
              <a:rPr lang="it-IT" b="1" dirty="0" err="1"/>
              <a:t>Clinicians</a:t>
            </a:r>
            <a:r>
              <a:rPr lang="it-IT" dirty="0"/>
              <a:t> (</a:t>
            </a:r>
            <a:r>
              <a:rPr lang="it-IT" dirty="0" err="1"/>
              <a:t>decision</a:t>
            </a:r>
            <a:r>
              <a:rPr lang="it-IT" dirty="0"/>
              <a:t>-making under </a:t>
            </a:r>
            <a:r>
              <a:rPr lang="it-IT" dirty="0" err="1"/>
              <a:t>workload</a:t>
            </a:r>
            <a:r>
              <a:rPr lang="it-IT" dirty="0"/>
              <a:t>) </a:t>
            </a:r>
          </a:p>
          <a:p>
            <a:r>
              <a:rPr lang="it-IT" b="1" dirty="0"/>
              <a:t>AI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decision</a:t>
            </a:r>
            <a:r>
              <a:rPr lang="it-IT" dirty="0"/>
              <a:t>-support (</a:t>
            </a:r>
            <a:r>
              <a:rPr lang="it-IT" dirty="0" err="1"/>
              <a:t>not</a:t>
            </a:r>
            <a:r>
              <a:rPr lang="it-IT" dirty="0"/>
              <a:t> replacement) </a:t>
            </a:r>
          </a:p>
          <a:p>
            <a:pPr marL="0" indent="0">
              <a:buNone/>
            </a:pPr>
            <a:r>
              <a:rPr lang="it-IT" dirty="0" err="1"/>
              <a:t>Enables</a:t>
            </a:r>
            <a:r>
              <a:rPr lang="it-IT" dirty="0"/>
              <a:t> linking: </a:t>
            </a:r>
            <a:r>
              <a:rPr lang="it-IT" b="1" dirty="0"/>
              <a:t>Micro-level </a:t>
            </a:r>
            <a:r>
              <a:rPr lang="it-IT" b="1" dirty="0" err="1"/>
              <a:t>behavior</a:t>
            </a:r>
            <a:r>
              <a:rPr lang="it-IT" b="1" dirty="0"/>
              <a:t> → Macro-level performance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72880" y="6334216"/>
            <a:ext cx="275673" cy="471489"/>
          </a:xfrm>
        </p:spPr>
        <p:txBody>
          <a:bodyPr/>
          <a:lstStyle/>
          <a:p>
            <a:fld id="{48F63A3B-78C7-47BE-AE5E-E10140E04643}" type="slidenum">
              <a:rPr lang="en-US" sz="2400" smtClean="0">
                <a:solidFill>
                  <a:schemeClr val="bg1"/>
                </a:solidFill>
              </a:rPr>
              <a:pPr/>
              <a:t>5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5110D85-1948-4C3B-8181-55538315090E}"/>
              </a:ext>
            </a:extLst>
          </p:cNvPr>
          <p:cNvSpPr/>
          <p:nvPr/>
        </p:nvSpPr>
        <p:spPr>
          <a:xfrm>
            <a:off x="3782612" y="1547515"/>
            <a:ext cx="1572886" cy="943732"/>
          </a:xfrm>
          <a:custGeom>
            <a:avLst/>
            <a:gdLst>
              <a:gd name="connsiteX0" fmla="*/ 0 w 1572886"/>
              <a:gd name="connsiteY0" fmla="*/ 94373 h 943732"/>
              <a:gd name="connsiteX1" fmla="*/ 94373 w 1572886"/>
              <a:gd name="connsiteY1" fmla="*/ 0 h 943732"/>
              <a:gd name="connsiteX2" fmla="*/ 1478513 w 1572886"/>
              <a:gd name="connsiteY2" fmla="*/ 0 h 943732"/>
              <a:gd name="connsiteX3" fmla="*/ 1572886 w 1572886"/>
              <a:gd name="connsiteY3" fmla="*/ 94373 h 943732"/>
              <a:gd name="connsiteX4" fmla="*/ 1572886 w 1572886"/>
              <a:gd name="connsiteY4" fmla="*/ 849359 h 943732"/>
              <a:gd name="connsiteX5" fmla="*/ 1478513 w 1572886"/>
              <a:gd name="connsiteY5" fmla="*/ 943732 h 943732"/>
              <a:gd name="connsiteX6" fmla="*/ 94373 w 1572886"/>
              <a:gd name="connsiteY6" fmla="*/ 943732 h 943732"/>
              <a:gd name="connsiteX7" fmla="*/ 0 w 1572886"/>
              <a:gd name="connsiteY7" fmla="*/ 849359 h 943732"/>
              <a:gd name="connsiteX8" fmla="*/ 0 w 1572886"/>
              <a:gd name="connsiteY8" fmla="*/ 94373 h 94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2886" h="943732">
                <a:moveTo>
                  <a:pt x="0" y="94373"/>
                </a:moveTo>
                <a:cubicBezTo>
                  <a:pt x="0" y="42252"/>
                  <a:pt x="42252" y="0"/>
                  <a:pt x="94373" y="0"/>
                </a:cubicBezTo>
                <a:lnTo>
                  <a:pt x="1478513" y="0"/>
                </a:lnTo>
                <a:cubicBezTo>
                  <a:pt x="1530634" y="0"/>
                  <a:pt x="1572886" y="42252"/>
                  <a:pt x="1572886" y="94373"/>
                </a:cubicBezTo>
                <a:lnTo>
                  <a:pt x="1572886" y="849359"/>
                </a:lnTo>
                <a:cubicBezTo>
                  <a:pt x="1572886" y="901480"/>
                  <a:pt x="1530634" y="943732"/>
                  <a:pt x="1478513" y="943732"/>
                </a:cubicBezTo>
                <a:lnTo>
                  <a:pt x="94373" y="943732"/>
                </a:lnTo>
                <a:cubicBezTo>
                  <a:pt x="42252" y="943732"/>
                  <a:pt x="0" y="901480"/>
                  <a:pt x="0" y="849359"/>
                </a:cubicBezTo>
                <a:lnTo>
                  <a:pt x="0" y="9437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1461" tIns="111461" rIns="111461" bIns="111461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/>
              <a:t>Patients</a:t>
            </a:r>
            <a:endParaRPr lang="it-IT" sz="2200" kern="120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D2140D3-BB86-4ACF-88D1-7DCEA3E35C45}"/>
              </a:ext>
            </a:extLst>
          </p:cNvPr>
          <p:cNvSpPr/>
          <p:nvPr/>
        </p:nvSpPr>
        <p:spPr>
          <a:xfrm>
            <a:off x="5907942" y="1824344"/>
            <a:ext cx="333452" cy="390075"/>
          </a:xfrm>
          <a:custGeom>
            <a:avLst/>
            <a:gdLst>
              <a:gd name="connsiteX0" fmla="*/ 0 w 333452"/>
              <a:gd name="connsiteY0" fmla="*/ 78015 h 390075"/>
              <a:gd name="connsiteX1" fmla="*/ 166726 w 333452"/>
              <a:gd name="connsiteY1" fmla="*/ 78015 h 390075"/>
              <a:gd name="connsiteX2" fmla="*/ 166726 w 333452"/>
              <a:gd name="connsiteY2" fmla="*/ 0 h 390075"/>
              <a:gd name="connsiteX3" fmla="*/ 333452 w 333452"/>
              <a:gd name="connsiteY3" fmla="*/ 195038 h 390075"/>
              <a:gd name="connsiteX4" fmla="*/ 166726 w 333452"/>
              <a:gd name="connsiteY4" fmla="*/ 390075 h 390075"/>
              <a:gd name="connsiteX5" fmla="*/ 166726 w 333452"/>
              <a:gd name="connsiteY5" fmla="*/ 312060 h 390075"/>
              <a:gd name="connsiteX6" fmla="*/ 0 w 333452"/>
              <a:gd name="connsiteY6" fmla="*/ 312060 h 390075"/>
              <a:gd name="connsiteX7" fmla="*/ 0 w 333452"/>
              <a:gd name="connsiteY7" fmla="*/ 78015 h 39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452" h="390075">
                <a:moveTo>
                  <a:pt x="0" y="78015"/>
                </a:moveTo>
                <a:lnTo>
                  <a:pt x="166726" y="78015"/>
                </a:lnTo>
                <a:lnTo>
                  <a:pt x="166726" y="0"/>
                </a:lnTo>
                <a:lnTo>
                  <a:pt x="333452" y="195038"/>
                </a:lnTo>
                <a:lnTo>
                  <a:pt x="166726" y="390075"/>
                </a:lnTo>
                <a:lnTo>
                  <a:pt x="166726" y="312060"/>
                </a:lnTo>
                <a:lnTo>
                  <a:pt x="0" y="312060"/>
                </a:lnTo>
                <a:lnTo>
                  <a:pt x="0" y="78015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78015" rIns="100036" bIns="7801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it-IT" sz="1400" kern="12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CB36E19-A1E0-47C9-A091-AC7821F7B95B}"/>
              </a:ext>
            </a:extLst>
          </p:cNvPr>
          <p:cNvSpPr/>
          <p:nvPr/>
        </p:nvSpPr>
        <p:spPr>
          <a:xfrm>
            <a:off x="6379808" y="1547515"/>
            <a:ext cx="1572886" cy="943732"/>
          </a:xfrm>
          <a:custGeom>
            <a:avLst/>
            <a:gdLst>
              <a:gd name="connsiteX0" fmla="*/ 0 w 1572886"/>
              <a:gd name="connsiteY0" fmla="*/ 94373 h 943732"/>
              <a:gd name="connsiteX1" fmla="*/ 94373 w 1572886"/>
              <a:gd name="connsiteY1" fmla="*/ 0 h 943732"/>
              <a:gd name="connsiteX2" fmla="*/ 1478513 w 1572886"/>
              <a:gd name="connsiteY2" fmla="*/ 0 h 943732"/>
              <a:gd name="connsiteX3" fmla="*/ 1572886 w 1572886"/>
              <a:gd name="connsiteY3" fmla="*/ 94373 h 943732"/>
              <a:gd name="connsiteX4" fmla="*/ 1572886 w 1572886"/>
              <a:gd name="connsiteY4" fmla="*/ 849359 h 943732"/>
              <a:gd name="connsiteX5" fmla="*/ 1478513 w 1572886"/>
              <a:gd name="connsiteY5" fmla="*/ 943732 h 943732"/>
              <a:gd name="connsiteX6" fmla="*/ 94373 w 1572886"/>
              <a:gd name="connsiteY6" fmla="*/ 943732 h 943732"/>
              <a:gd name="connsiteX7" fmla="*/ 0 w 1572886"/>
              <a:gd name="connsiteY7" fmla="*/ 849359 h 943732"/>
              <a:gd name="connsiteX8" fmla="*/ 0 w 1572886"/>
              <a:gd name="connsiteY8" fmla="*/ 94373 h 94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2886" h="943732">
                <a:moveTo>
                  <a:pt x="0" y="94373"/>
                </a:moveTo>
                <a:cubicBezTo>
                  <a:pt x="0" y="42252"/>
                  <a:pt x="42252" y="0"/>
                  <a:pt x="94373" y="0"/>
                </a:cubicBezTo>
                <a:lnTo>
                  <a:pt x="1478513" y="0"/>
                </a:lnTo>
                <a:cubicBezTo>
                  <a:pt x="1530634" y="0"/>
                  <a:pt x="1572886" y="42252"/>
                  <a:pt x="1572886" y="94373"/>
                </a:cubicBezTo>
                <a:lnTo>
                  <a:pt x="1572886" y="849359"/>
                </a:lnTo>
                <a:cubicBezTo>
                  <a:pt x="1572886" y="901480"/>
                  <a:pt x="1530634" y="943732"/>
                  <a:pt x="1478513" y="943732"/>
                </a:cubicBezTo>
                <a:lnTo>
                  <a:pt x="94373" y="943732"/>
                </a:lnTo>
                <a:cubicBezTo>
                  <a:pt x="42252" y="943732"/>
                  <a:pt x="0" y="901480"/>
                  <a:pt x="0" y="849359"/>
                </a:cubicBezTo>
                <a:lnTo>
                  <a:pt x="0" y="9437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1461" tIns="111461" rIns="111461" bIns="111461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/>
              <a:t>Clinicians</a:t>
            </a:r>
            <a:endParaRPr lang="it-IT" sz="2200" kern="12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4B27C3-3B8D-49FD-B120-FEEF5FC54C47}"/>
              </a:ext>
            </a:extLst>
          </p:cNvPr>
          <p:cNvSpPr/>
          <p:nvPr/>
        </p:nvSpPr>
        <p:spPr>
          <a:xfrm>
            <a:off x="8503204" y="1824344"/>
            <a:ext cx="333452" cy="390075"/>
          </a:xfrm>
          <a:custGeom>
            <a:avLst/>
            <a:gdLst>
              <a:gd name="connsiteX0" fmla="*/ 0 w 333452"/>
              <a:gd name="connsiteY0" fmla="*/ 78015 h 390075"/>
              <a:gd name="connsiteX1" fmla="*/ 166726 w 333452"/>
              <a:gd name="connsiteY1" fmla="*/ 78015 h 390075"/>
              <a:gd name="connsiteX2" fmla="*/ 166726 w 333452"/>
              <a:gd name="connsiteY2" fmla="*/ 0 h 390075"/>
              <a:gd name="connsiteX3" fmla="*/ 333452 w 333452"/>
              <a:gd name="connsiteY3" fmla="*/ 195038 h 390075"/>
              <a:gd name="connsiteX4" fmla="*/ 166726 w 333452"/>
              <a:gd name="connsiteY4" fmla="*/ 390075 h 390075"/>
              <a:gd name="connsiteX5" fmla="*/ 166726 w 333452"/>
              <a:gd name="connsiteY5" fmla="*/ 312060 h 390075"/>
              <a:gd name="connsiteX6" fmla="*/ 0 w 333452"/>
              <a:gd name="connsiteY6" fmla="*/ 312060 h 390075"/>
              <a:gd name="connsiteX7" fmla="*/ 0 w 333452"/>
              <a:gd name="connsiteY7" fmla="*/ 78015 h 39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452" h="390075">
                <a:moveTo>
                  <a:pt x="0" y="78015"/>
                </a:moveTo>
                <a:lnTo>
                  <a:pt x="166726" y="78015"/>
                </a:lnTo>
                <a:lnTo>
                  <a:pt x="166726" y="0"/>
                </a:lnTo>
                <a:lnTo>
                  <a:pt x="333452" y="195038"/>
                </a:lnTo>
                <a:lnTo>
                  <a:pt x="166726" y="390075"/>
                </a:lnTo>
                <a:lnTo>
                  <a:pt x="166726" y="312060"/>
                </a:lnTo>
                <a:lnTo>
                  <a:pt x="0" y="312060"/>
                </a:lnTo>
                <a:lnTo>
                  <a:pt x="0" y="78015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78015" rIns="100036" bIns="7801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it-IT" sz="1400" kern="12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1662B82-B5CA-4B3F-8434-5D95512AC4AB}"/>
              </a:ext>
            </a:extLst>
          </p:cNvPr>
          <p:cNvSpPr/>
          <p:nvPr/>
        </p:nvSpPr>
        <p:spPr>
          <a:xfrm>
            <a:off x="8980394" y="1547515"/>
            <a:ext cx="1572886" cy="943732"/>
          </a:xfrm>
          <a:custGeom>
            <a:avLst/>
            <a:gdLst>
              <a:gd name="connsiteX0" fmla="*/ 0 w 1572886"/>
              <a:gd name="connsiteY0" fmla="*/ 94373 h 943732"/>
              <a:gd name="connsiteX1" fmla="*/ 94373 w 1572886"/>
              <a:gd name="connsiteY1" fmla="*/ 0 h 943732"/>
              <a:gd name="connsiteX2" fmla="*/ 1478513 w 1572886"/>
              <a:gd name="connsiteY2" fmla="*/ 0 h 943732"/>
              <a:gd name="connsiteX3" fmla="*/ 1572886 w 1572886"/>
              <a:gd name="connsiteY3" fmla="*/ 94373 h 943732"/>
              <a:gd name="connsiteX4" fmla="*/ 1572886 w 1572886"/>
              <a:gd name="connsiteY4" fmla="*/ 849359 h 943732"/>
              <a:gd name="connsiteX5" fmla="*/ 1478513 w 1572886"/>
              <a:gd name="connsiteY5" fmla="*/ 943732 h 943732"/>
              <a:gd name="connsiteX6" fmla="*/ 94373 w 1572886"/>
              <a:gd name="connsiteY6" fmla="*/ 943732 h 943732"/>
              <a:gd name="connsiteX7" fmla="*/ 0 w 1572886"/>
              <a:gd name="connsiteY7" fmla="*/ 849359 h 943732"/>
              <a:gd name="connsiteX8" fmla="*/ 0 w 1572886"/>
              <a:gd name="connsiteY8" fmla="*/ 94373 h 94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2886" h="943732">
                <a:moveTo>
                  <a:pt x="0" y="94373"/>
                </a:moveTo>
                <a:cubicBezTo>
                  <a:pt x="0" y="42252"/>
                  <a:pt x="42252" y="0"/>
                  <a:pt x="94373" y="0"/>
                </a:cubicBezTo>
                <a:lnTo>
                  <a:pt x="1478513" y="0"/>
                </a:lnTo>
                <a:cubicBezTo>
                  <a:pt x="1530634" y="0"/>
                  <a:pt x="1572886" y="42252"/>
                  <a:pt x="1572886" y="94373"/>
                </a:cubicBezTo>
                <a:lnTo>
                  <a:pt x="1572886" y="849359"/>
                </a:lnTo>
                <a:cubicBezTo>
                  <a:pt x="1572886" y="901480"/>
                  <a:pt x="1530634" y="943732"/>
                  <a:pt x="1478513" y="943732"/>
                </a:cubicBezTo>
                <a:lnTo>
                  <a:pt x="94373" y="943732"/>
                </a:lnTo>
                <a:cubicBezTo>
                  <a:pt x="42252" y="943732"/>
                  <a:pt x="0" y="901480"/>
                  <a:pt x="0" y="849359"/>
                </a:cubicBezTo>
                <a:lnTo>
                  <a:pt x="0" y="9437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3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1461" tIns="111461" rIns="111461" bIns="111461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/>
              <a:t>AI Support </a:t>
            </a:r>
            <a:endParaRPr lang="it-IT" sz="220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B5B452-70CA-4864-92FE-F12B813C0846}"/>
              </a:ext>
            </a:extLst>
          </p:cNvPr>
          <p:cNvSpPr/>
          <p:nvPr/>
        </p:nvSpPr>
        <p:spPr>
          <a:xfrm flipH="1">
            <a:off x="5495846" y="1828494"/>
            <a:ext cx="333452" cy="390075"/>
          </a:xfrm>
          <a:custGeom>
            <a:avLst/>
            <a:gdLst>
              <a:gd name="connsiteX0" fmla="*/ 0 w 333452"/>
              <a:gd name="connsiteY0" fmla="*/ 78015 h 390075"/>
              <a:gd name="connsiteX1" fmla="*/ 166726 w 333452"/>
              <a:gd name="connsiteY1" fmla="*/ 78015 h 390075"/>
              <a:gd name="connsiteX2" fmla="*/ 166726 w 333452"/>
              <a:gd name="connsiteY2" fmla="*/ 0 h 390075"/>
              <a:gd name="connsiteX3" fmla="*/ 333452 w 333452"/>
              <a:gd name="connsiteY3" fmla="*/ 195038 h 390075"/>
              <a:gd name="connsiteX4" fmla="*/ 166726 w 333452"/>
              <a:gd name="connsiteY4" fmla="*/ 390075 h 390075"/>
              <a:gd name="connsiteX5" fmla="*/ 166726 w 333452"/>
              <a:gd name="connsiteY5" fmla="*/ 312060 h 390075"/>
              <a:gd name="connsiteX6" fmla="*/ 0 w 333452"/>
              <a:gd name="connsiteY6" fmla="*/ 312060 h 390075"/>
              <a:gd name="connsiteX7" fmla="*/ 0 w 333452"/>
              <a:gd name="connsiteY7" fmla="*/ 78015 h 39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452" h="390075">
                <a:moveTo>
                  <a:pt x="0" y="78015"/>
                </a:moveTo>
                <a:lnTo>
                  <a:pt x="166726" y="78015"/>
                </a:lnTo>
                <a:lnTo>
                  <a:pt x="166726" y="0"/>
                </a:lnTo>
                <a:lnTo>
                  <a:pt x="333452" y="195038"/>
                </a:lnTo>
                <a:lnTo>
                  <a:pt x="166726" y="390075"/>
                </a:lnTo>
                <a:lnTo>
                  <a:pt x="166726" y="312060"/>
                </a:lnTo>
                <a:lnTo>
                  <a:pt x="0" y="312060"/>
                </a:lnTo>
                <a:lnTo>
                  <a:pt x="0" y="78015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78015" rIns="100036" bIns="7801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it-IT" sz="1400" kern="12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EE474BF-2F89-4DF4-8C60-3ED3B681BA61}"/>
              </a:ext>
            </a:extLst>
          </p:cNvPr>
          <p:cNvSpPr/>
          <p:nvPr/>
        </p:nvSpPr>
        <p:spPr>
          <a:xfrm flipH="1">
            <a:off x="8096432" y="1837371"/>
            <a:ext cx="333452" cy="390075"/>
          </a:xfrm>
          <a:custGeom>
            <a:avLst/>
            <a:gdLst>
              <a:gd name="connsiteX0" fmla="*/ 0 w 333452"/>
              <a:gd name="connsiteY0" fmla="*/ 78015 h 390075"/>
              <a:gd name="connsiteX1" fmla="*/ 166726 w 333452"/>
              <a:gd name="connsiteY1" fmla="*/ 78015 h 390075"/>
              <a:gd name="connsiteX2" fmla="*/ 166726 w 333452"/>
              <a:gd name="connsiteY2" fmla="*/ 0 h 390075"/>
              <a:gd name="connsiteX3" fmla="*/ 333452 w 333452"/>
              <a:gd name="connsiteY3" fmla="*/ 195038 h 390075"/>
              <a:gd name="connsiteX4" fmla="*/ 166726 w 333452"/>
              <a:gd name="connsiteY4" fmla="*/ 390075 h 390075"/>
              <a:gd name="connsiteX5" fmla="*/ 166726 w 333452"/>
              <a:gd name="connsiteY5" fmla="*/ 312060 h 390075"/>
              <a:gd name="connsiteX6" fmla="*/ 0 w 333452"/>
              <a:gd name="connsiteY6" fmla="*/ 312060 h 390075"/>
              <a:gd name="connsiteX7" fmla="*/ 0 w 333452"/>
              <a:gd name="connsiteY7" fmla="*/ 78015 h 39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452" h="390075">
                <a:moveTo>
                  <a:pt x="0" y="78015"/>
                </a:moveTo>
                <a:lnTo>
                  <a:pt x="166726" y="78015"/>
                </a:lnTo>
                <a:lnTo>
                  <a:pt x="166726" y="0"/>
                </a:lnTo>
                <a:lnTo>
                  <a:pt x="333452" y="195038"/>
                </a:lnTo>
                <a:lnTo>
                  <a:pt x="166726" y="390075"/>
                </a:lnTo>
                <a:lnTo>
                  <a:pt x="166726" y="312060"/>
                </a:lnTo>
                <a:lnTo>
                  <a:pt x="0" y="312060"/>
                </a:lnTo>
                <a:lnTo>
                  <a:pt x="0" y="78015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78015" rIns="100036" bIns="7801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it-IT" sz="1400" kern="1200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4A8A58FF-A7A7-42A6-A0CC-D3CAC048A8A3}"/>
              </a:ext>
            </a:extLst>
          </p:cNvPr>
          <p:cNvSpPr/>
          <p:nvPr/>
        </p:nvSpPr>
        <p:spPr>
          <a:xfrm rot="16200000">
            <a:off x="6674658" y="-1121676"/>
            <a:ext cx="943732" cy="7403977"/>
          </a:xfrm>
          <a:prstGeom prst="leftBrace">
            <a:avLst>
              <a:gd name="adj1" fmla="val 60057"/>
              <a:gd name="adj2" fmla="val 49806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CCAD67-85D6-4D39-A19E-D40FA015B425}"/>
              </a:ext>
            </a:extLst>
          </p:cNvPr>
          <p:cNvSpPr/>
          <p:nvPr/>
        </p:nvSpPr>
        <p:spPr>
          <a:xfrm>
            <a:off x="4334274" y="3009983"/>
            <a:ext cx="5663954" cy="45450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Organizational KPIs (LOS, Throughput, Stability) 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FEEB29-2413-4D3C-9A53-70D329AB60EC}"/>
              </a:ext>
            </a:extLst>
          </p:cNvPr>
          <p:cNvSpPr/>
          <p:nvPr/>
        </p:nvSpPr>
        <p:spPr>
          <a:xfrm>
            <a:off x="3253447" y="6519446"/>
            <a:ext cx="93984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ea typeface="+mj-ea"/>
                <a:cs typeface="+mj-cs"/>
              </a:rPr>
              <a:t>*ABM allows us to study organizational outcomes emerging from individual decisions.*</a:t>
            </a:r>
            <a:endParaRPr lang="it-IT" sz="1600" dirty="0">
              <a:solidFill>
                <a:schemeClr val="accent6"/>
              </a:solidFill>
              <a:ea typeface="+mj-ea"/>
              <a:cs typeface="+mj-cs"/>
            </a:endParaRPr>
          </a:p>
        </p:txBody>
      </p:sp>
      <p:pic>
        <p:nvPicPr>
          <p:cNvPr id="1026" name="Picture 2" descr="1.2: Introduction to agent-based modeling - Mathematics LibreTexts">
            <a:extLst>
              <a:ext uri="{FF2B5EF4-FFF2-40B4-BE49-F238E27FC236}">
                <a16:creationId xmlns:a16="http://schemas.microsoft.com/office/drawing/2014/main" id="{C39D73B5-8389-4B6C-A3B0-C3DF719F61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05"/>
          <a:stretch/>
        </p:blipFill>
        <p:spPr bwMode="auto">
          <a:xfrm>
            <a:off x="324263" y="408992"/>
            <a:ext cx="1857395" cy="264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1.2: Introduction to agent-based modeling - Mathematics LibreTexts">
            <a:extLst>
              <a:ext uri="{FF2B5EF4-FFF2-40B4-BE49-F238E27FC236}">
                <a16:creationId xmlns:a16="http://schemas.microsoft.com/office/drawing/2014/main" id="{490CFF5B-BB12-4270-B27A-2920B8772C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37" r="271"/>
          <a:stretch/>
        </p:blipFill>
        <p:spPr bwMode="auto">
          <a:xfrm>
            <a:off x="324263" y="3219218"/>
            <a:ext cx="1961965" cy="264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8621" y="150921"/>
            <a:ext cx="6516210" cy="1206532"/>
          </a:xfrm>
        </p:spPr>
        <p:txBody>
          <a:bodyPr/>
          <a:lstStyle/>
          <a:p>
            <a:r>
              <a:rPr lang="it-IT" dirty="0"/>
              <a:t>Scenario Design &amp; </a:t>
            </a:r>
            <a:r>
              <a:rPr lang="it-IT" dirty="0" err="1"/>
              <a:t>Experimental</a:t>
            </a:r>
            <a:r>
              <a:rPr lang="it-IT" dirty="0"/>
              <a:t> Setup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645717" y="1979950"/>
            <a:ext cx="8427914" cy="312471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Scenario 1 – Baseline (Traditional)</a:t>
            </a:r>
            <a:r>
              <a:rPr lang="en-US" dirty="0"/>
              <a:t> 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/>
              <a:t>4 clinicians No AI support </a:t>
            </a:r>
          </a:p>
          <a:p>
            <a:pPr>
              <a:lnSpc>
                <a:spcPct val="120000"/>
              </a:lnSpc>
            </a:pPr>
            <a:r>
              <a:rPr lang="en-US" b="1" dirty="0"/>
              <a:t>Scenario 2 – AI-Assisted</a:t>
            </a:r>
            <a:r>
              <a:rPr lang="en-US" dirty="0"/>
              <a:t> 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/>
              <a:t>3 clinicians AI reduces decision latency and variability 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Demand and capacity are kept constant</a:t>
            </a:r>
          </a:p>
          <a:p>
            <a:pPr>
              <a:lnSpc>
                <a:spcPct val="120000"/>
              </a:lnSpc>
            </a:pPr>
            <a:r>
              <a:rPr lang="en-US" dirty="0"/>
              <a:t> </a:t>
            </a:r>
          </a:p>
          <a:p>
            <a:pPr>
              <a:lnSpc>
                <a:spcPct val="120000"/>
              </a:lnSpc>
            </a:pPr>
            <a:r>
              <a:rPr lang="en-US" dirty="0"/>
              <a:t>AI effectiveness tested from </a:t>
            </a:r>
            <a:r>
              <a:rPr lang="en-US" b="1" dirty="0"/>
              <a:t>10% to 40%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34D00D83-C8F6-4D31-A8B3-A89159AFD945}"/>
              </a:ext>
            </a:extLst>
          </p:cNvPr>
          <p:cNvSpPr txBox="1">
            <a:spLocks/>
          </p:cNvSpPr>
          <p:nvPr/>
        </p:nvSpPr>
        <p:spPr>
          <a:xfrm>
            <a:off x="101858" y="6378604"/>
            <a:ext cx="275673" cy="47148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2400" smtClean="0">
                <a:solidFill>
                  <a:schemeClr val="bg1"/>
                </a:solidFill>
              </a:rPr>
              <a:pPr/>
              <a:t>6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19804F-E8D3-48EE-8E6F-50CDDFE72B72}"/>
              </a:ext>
            </a:extLst>
          </p:cNvPr>
          <p:cNvSpPr/>
          <p:nvPr/>
        </p:nvSpPr>
        <p:spPr>
          <a:xfrm>
            <a:off x="3235676" y="6511539"/>
            <a:ext cx="89563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ea typeface="+mj-ea"/>
                <a:cs typeface="+mj-cs"/>
              </a:rPr>
              <a:t>*Any performance difference is driven by way of decision-making, not by demand or capacity changes.*</a:t>
            </a:r>
            <a:endParaRPr lang="it-IT" sz="1600" dirty="0">
              <a:solidFill>
                <a:schemeClr val="accent6"/>
              </a:solidFill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B4D72B-3585-4E8D-9C6A-E785C2120D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6" b="95851" l="9901" r="89983">
                        <a14:foregroundMark x1="52475" y1="90810" x2="52475" y2="90810"/>
                        <a14:foregroundMark x1="51340" y1="91915" x2="51340" y2="91915"/>
                        <a14:foregroundMark x1="51543" y1="91179" x2="51543" y2="91179"/>
                        <a14:foregroundMark x1="51922" y1="92284" x2="51922" y2="93021"/>
                        <a14:foregroundMark x1="88672" y1="92284" x2="86022" y2="94009"/>
                        <a14:foregroundMark x1="85294" y1="93021" x2="85847" y2="94862"/>
                        <a14:foregroundMark x1="87915" y1="94998" x2="88119" y2="95851"/>
                      </a14:backgroundRemoval>
                    </a14:imgEffect>
                  </a14:imgLayer>
                </a14:imgProps>
              </a:ext>
            </a:extLst>
          </a:blip>
          <a:srcRect l="10166" t="26160" r="10099" b="1204"/>
          <a:stretch/>
        </p:blipFill>
        <p:spPr>
          <a:xfrm>
            <a:off x="657225" y="3818785"/>
            <a:ext cx="2085975" cy="291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63159"/>
            <a:ext cx="8282238" cy="594115"/>
          </a:xfrm>
        </p:spPr>
        <p:txBody>
          <a:bodyPr/>
          <a:lstStyle/>
          <a:p>
            <a:r>
              <a:rPr lang="it-IT" dirty="0" err="1"/>
              <a:t>KPIs</a:t>
            </a:r>
            <a:r>
              <a:rPr lang="it-IT" dirty="0"/>
              <a:t> &amp; Evaluation </a:t>
            </a:r>
            <a:r>
              <a:rPr lang="it-IT" dirty="0" err="1"/>
              <a:t>Metrics</a:t>
            </a:r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071" y="1834649"/>
            <a:ext cx="8273517" cy="3720337"/>
          </a:xfrm>
        </p:spPr>
        <p:txBody>
          <a:bodyPr>
            <a:normAutofit/>
          </a:bodyPr>
          <a:lstStyle/>
          <a:p>
            <a:r>
              <a:rPr lang="en-US" dirty="0"/>
              <a:t>Evaluation focuses on </a:t>
            </a:r>
            <a:r>
              <a:rPr lang="en-US" b="1" dirty="0"/>
              <a:t>organizational performance</a:t>
            </a:r>
            <a:r>
              <a:rPr lang="en-US" dirty="0"/>
              <a:t>, not clinical accuracy </a:t>
            </a:r>
          </a:p>
          <a:p>
            <a:r>
              <a:rPr lang="en-US" dirty="0"/>
              <a:t>Key Performance Indicators (KPIs): </a:t>
            </a:r>
          </a:p>
          <a:p>
            <a:pPr marL="342900" indent="-342900">
              <a:buFont typeface="+mj-lt"/>
              <a:buAutoNum type="alphaLcPeriod"/>
            </a:pPr>
            <a:r>
              <a:rPr lang="en-US" b="1" dirty="0"/>
              <a:t>Decision Latency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lphaLcPeriod"/>
            </a:pPr>
            <a:r>
              <a:rPr lang="en-US" b="1" dirty="0"/>
              <a:t>Mean Length of Stay (LOS)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lphaLcPeriod"/>
            </a:pPr>
            <a:r>
              <a:rPr lang="en-US" b="1" dirty="0"/>
              <a:t>LOS – 95th Percentile (Tail Risk)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lphaLcPeriod"/>
            </a:pPr>
            <a:r>
              <a:rPr lang="en-US" b="1" dirty="0"/>
              <a:t>Throughput</a:t>
            </a:r>
            <a:r>
              <a:rPr lang="en-US" dirty="0"/>
              <a:t> </a:t>
            </a:r>
          </a:p>
          <a:p>
            <a:r>
              <a:rPr lang="en-US" dirty="0"/>
              <a:t>Note: Stability and variability are explicitly considered KPIs interpreted through a </a:t>
            </a:r>
            <a:r>
              <a:rPr lang="en-US" b="1" dirty="0"/>
              <a:t>value-based management perspective.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28066AB9-2D6B-4789-8AA5-A7293CA205B8}"/>
              </a:ext>
            </a:extLst>
          </p:cNvPr>
          <p:cNvSpPr txBox="1">
            <a:spLocks/>
          </p:cNvSpPr>
          <p:nvPr/>
        </p:nvSpPr>
        <p:spPr>
          <a:xfrm>
            <a:off x="11636633" y="6321454"/>
            <a:ext cx="275673" cy="47148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2400" smtClean="0">
                <a:solidFill>
                  <a:schemeClr val="bg1"/>
                </a:solidFill>
              </a:rPr>
              <a:pPr/>
              <a:t>7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A4A0B8-C334-4F70-BB14-A622608A89BE}"/>
              </a:ext>
            </a:extLst>
          </p:cNvPr>
          <p:cNvSpPr txBox="1">
            <a:spLocks/>
          </p:cNvSpPr>
          <p:nvPr/>
        </p:nvSpPr>
        <p:spPr>
          <a:xfrm>
            <a:off x="428625" y="1067276"/>
            <a:ext cx="6583680" cy="323133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Organizational KPIs and Evaluation Logic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B00828-FAF3-4946-BF76-CDF4CAEF859C}"/>
              </a:ext>
            </a:extLst>
          </p:cNvPr>
          <p:cNvSpPr/>
          <p:nvPr/>
        </p:nvSpPr>
        <p:spPr>
          <a:xfrm>
            <a:off x="622594" y="6454325"/>
            <a:ext cx="85404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ea typeface="+mj-ea"/>
                <a:cs typeface="+mj-cs"/>
              </a:rPr>
              <a:t>*Organizational value depends on flow, stability, and coordination, not only averages.*</a:t>
            </a:r>
            <a:endParaRPr lang="it-IT" sz="1600" dirty="0">
              <a:solidFill>
                <a:schemeClr val="accent6"/>
              </a:solidFill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1763CC-64DB-4BEC-B485-C6F1313A09EA}"/>
              </a:ext>
            </a:extLst>
          </p:cNvPr>
          <p:cNvSpPr/>
          <p:nvPr/>
        </p:nvSpPr>
        <p:spPr>
          <a:xfrm>
            <a:off x="2145208" y="5448262"/>
            <a:ext cx="4624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>
                <a:solidFill>
                  <a:schemeClr val="accent6"/>
                </a:solidFill>
              </a:rPr>
              <a:t>Efficiency = Output / </a:t>
            </a:r>
            <a:r>
              <a:rPr lang="it-IT" b="1" dirty="0" err="1">
                <a:solidFill>
                  <a:schemeClr val="accent6"/>
                </a:solidFill>
              </a:rPr>
              <a:t>Organizational</a:t>
            </a:r>
            <a:r>
              <a:rPr lang="it-IT" b="1" dirty="0">
                <a:solidFill>
                  <a:schemeClr val="accent6"/>
                </a:solidFill>
              </a:rPr>
              <a:t> Effort</a:t>
            </a:r>
          </a:p>
        </p:txBody>
      </p:sp>
      <p:sp>
        <p:nvSpPr>
          <p:cNvPr id="15" name="Freeform 2">
            <a:extLst>
              <a:ext uri="{FF2B5EF4-FFF2-40B4-BE49-F238E27FC236}">
                <a16:creationId xmlns:a16="http://schemas.microsoft.com/office/drawing/2014/main" id="{81CA8540-632A-453F-A3FB-CF6331DCD948}"/>
              </a:ext>
            </a:extLst>
          </p:cNvPr>
          <p:cNvSpPr/>
          <p:nvPr/>
        </p:nvSpPr>
        <p:spPr>
          <a:xfrm>
            <a:off x="9064857" y="2088427"/>
            <a:ext cx="2709612" cy="2698355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0"/>
                </a:moveTo>
                <a:lnTo>
                  <a:pt x="1463040" y="0"/>
                </a:lnTo>
                <a:lnTo>
                  <a:pt x="1463040" y="1463040"/>
                </a:lnTo>
                <a:lnTo>
                  <a:pt x="0" y="1463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813" y="-274493"/>
            <a:ext cx="9879437" cy="980844"/>
          </a:xfrm>
        </p:spPr>
        <p:txBody>
          <a:bodyPr/>
          <a:lstStyle/>
          <a:p>
            <a:r>
              <a:rPr lang="it-IT" dirty="0"/>
              <a:t>Results: Performance </a:t>
            </a:r>
            <a:r>
              <a:rPr lang="it-IT" dirty="0" err="1"/>
              <a:t>Curves</a:t>
            </a:r>
            <a:endParaRPr lang="en-US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806D3D99-033E-4371-BA0E-E8E19A3AE331}"/>
              </a:ext>
            </a:extLst>
          </p:cNvPr>
          <p:cNvSpPr txBox="1">
            <a:spLocks/>
          </p:cNvSpPr>
          <p:nvPr/>
        </p:nvSpPr>
        <p:spPr>
          <a:xfrm>
            <a:off x="482858" y="215929"/>
            <a:ext cx="275673" cy="47148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2400" smtClean="0">
                <a:solidFill>
                  <a:schemeClr val="bg1"/>
                </a:solidFill>
              </a:rPr>
              <a:pPr/>
              <a:t>8</a:t>
            </a:fld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86F138-0025-429E-ACB3-E021DAFE8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291" y="706351"/>
            <a:ext cx="7944959" cy="55538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20D47D3-8EE2-4B7A-A61A-18FDB09630DE}"/>
              </a:ext>
            </a:extLst>
          </p:cNvPr>
          <p:cNvSpPr/>
          <p:nvPr/>
        </p:nvSpPr>
        <p:spPr>
          <a:xfrm>
            <a:off x="666750" y="3784677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>
                <a:solidFill>
                  <a:schemeClr val="accent6"/>
                </a:solidFill>
              </a:rPr>
              <a:t>Low </a:t>
            </a:r>
            <a:r>
              <a:rPr lang="it-IT" b="1" dirty="0" err="1">
                <a:solidFill>
                  <a:schemeClr val="accent6"/>
                </a:solidFill>
              </a:rPr>
              <a:t>Load</a:t>
            </a:r>
            <a:r>
              <a:rPr lang="it-IT" b="1" dirty="0">
                <a:solidFill>
                  <a:schemeClr val="accent6"/>
                </a:solidFill>
              </a:rPr>
              <a:t> Scenario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A9D2C9-ACD3-468F-AD76-9B94A9892104}"/>
              </a:ext>
            </a:extLst>
          </p:cNvPr>
          <p:cNvSpPr/>
          <p:nvPr/>
        </p:nvSpPr>
        <p:spPr>
          <a:xfrm>
            <a:off x="2981324" y="6420535"/>
            <a:ext cx="77628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ea typeface="+mj-ea"/>
                <a:cs typeface="+mj-cs"/>
              </a:rPr>
              <a:t>*There exists a clear break-even region where AI compensates for reduced staffing.*</a:t>
            </a:r>
            <a:endParaRPr lang="it-IT" sz="1600" dirty="0">
              <a:solidFill>
                <a:schemeClr val="accent6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813" y="-274493"/>
            <a:ext cx="9879437" cy="980844"/>
          </a:xfrm>
        </p:spPr>
        <p:txBody>
          <a:bodyPr/>
          <a:lstStyle/>
          <a:p>
            <a:r>
              <a:rPr lang="it-IT" dirty="0"/>
              <a:t>Results: Performance </a:t>
            </a:r>
            <a:r>
              <a:rPr lang="it-IT" dirty="0" err="1"/>
              <a:t>Curves</a:t>
            </a:r>
            <a:endParaRPr lang="en-US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806D3D99-033E-4371-BA0E-E8E19A3AE331}"/>
              </a:ext>
            </a:extLst>
          </p:cNvPr>
          <p:cNvSpPr txBox="1">
            <a:spLocks/>
          </p:cNvSpPr>
          <p:nvPr/>
        </p:nvSpPr>
        <p:spPr>
          <a:xfrm>
            <a:off x="482858" y="215929"/>
            <a:ext cx="275673" cy="47148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2400" smtClean="0">
                <a:solidFill>
                  <a:schemeClr val="bg1"/>
                </a:solidFill>
              </a:rPr>
              <a:pPr/>
              <a:t>9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0D47D3-8EE2-4B7A-A61A-18FDB09630DE}"/>
              </a:ext>
            </a:extLst>
          </p:cNvPr>
          <p:cNvSpPr/>
          <p:nvPr/>
        </p:nvSpPr>
        <p:spPr>
          <a:xfrm>
            <a:off x="666750" y="3784677"/>
            <a:ext cx="2226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>
                <a:solidFill>
                  <a:schemeClr val="accent6"/>
                </a:solidFill>
              </a:rPr>
              <a:t>High </a:t>
            </a:r>
            <a:r>
              <a:rPr lang="it-IT" b="1" dirty="0" err="1">
                <a:solidFill>
                  <a:schemeClr val="accent6"/>
                </a:solidFill>
              </a:rPr>
              <a:t>Load</a:t>
            </a:r>
            <a:r>
              <a:rPr lang="it-IT" b="1" dirty="0">
                <a:solidFill>
                  <a:schemeClr val="accent6"/>
                </a:solidFill>
              </a:rPr>
              <a:t> Scenario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A9D2C9-ACD3-468F-AD76-9B94A9892104}"/>
              </a:ext>
            </a:extLst>
          </p:cNvPr>
          <p:cNvSpPr/>
          <p:nvPr/>
        </p:nvSpPr>
        <p:spPr>
          <a:xfrm>
            <a:off x="2981324" y="6420535"/>
            <a:ext cx="77628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ea typeface="+mj-ea"/>
                <a:cs typeface="+mj-cs"/>
              </a:rPr>
              <a:t>*There exists a clear break-even region where AI compensates for reduced staffing.*</a:t>
            </a:r>
            <a:endParaRPr lang="it-IT" sz="1600" dirty="0">
              <a:solidFill>
                <a:schemeClr val="accent6"/>
              </a:solidFill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65348A-F7F8-4C26-B1BF-1FCEF9EA5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397" y="706351"/>
            <a:ext cx="7544853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389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9163050" cy="844357"/>
          </a:xfrm>
        </p:spPr>
        <p:txBody>
          <a:bodyPr/>
          <a:lstStyle/>
          <a:p>
            <a:r>
              <a:rPr lang="it-IT" dirty="0"/>
              <a:t>Results: </a:t>
            </a:r>
            <a:r>
              <a:rPr lang="it-IT" dirty="0" err="1"/>
              <a:t>Managerial</a:t>
            </a:r>
            <a:r>
              <a:rPr lang="it-IT" dirty="0"/>
              <a:t> </a:t>
            </a:r>
            <a:r>
              <a:rPr lang="it-IT" dirty="0" err="1"/>
              <a:t>Interpretation</a:t>
            </a:r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64923"/>
            <a:ext cx="7343775" cy="34909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it-IT" dirty="0"/>
              <a:t>AI </a:t>
            </a:r>
            <a:r>
              <a:rPr lang="it-IT" dirty="0" err="1"/>
              <a:t>reduces</a:t>
            </a:r>
            <a:r>
              <a:rPr lang="it-IT" dirty="0"/>
              <a:t> </a:t>
            </a:r>
            <a:r>
              <a:rPr lang="it-IT" b="1" dirty="0" err="1"/>
              <a:t>decision</a:t>
            </a:r>
            <a:r>
              <a:rPr lang="it-IT" b="1" dirty="0"/>
              <a:t> </a:t>
            </a:r>
            <a:r>
              <a:rPr lang="it-IT" b="1" dirty="0" err="1"/>
              <a:t>delays</a:t>
            </a:r>
            <a:r>
              <a:rPr lang="it-IT" dirty="0"/>
              <a:t>, </a:t>
            </a:r>
            <a:r>
              <a:rPr lang="it-IT" dirty="0" err="1"/>
              <a:t>not</a:t>
            </a:r>
            <a:r>
              <a:rPr lang="it-IT" dirty="0"/>
              <a:t> demand or </a:t>
            </a:r>
            <a:r>
              <a:rPr lang="it-IT" dirty="0" err="1"/>
              <a:t>capacity</a:t>
            </a:r>
            <a:r>
              <a:rPr lang="fa-IR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it-IT" dirty="0" err="1"/>
              <a:t>Reduced</a:t>
            </a:r>
            <a:r>
              <a:rPr lang="it-IT" dirty="0"/>
              <a:t> </a:t>
            </a:r>
            <a:r>
              <a:rPr lang="it-IT" dirty="0" err="1"/>
              <a:t>delays</a:t>
            </a:r>
            <a:r>
              <a:rPr lang="it-IT" dirty="0"/>
              <a:t> </a:t>
            </a:r>
            <a:r>
              <a:rPr lang="it-IT" dirty="0" err="1"/>
              <a:t>weaken</a:t>
            </a:r>
            <a:r>
              <a:rPr lang="it-IT" dirty="0"/>
              <a:t> </a:t>
            </a:r>
            <a:r>
              <a:rPr lang="it-IT" b="1" dirty="0"/>
              <a:t>congestion feedback loops</a:t>
            </a:r>
            <a:r>
              <a:rPr lang="fa-IR" b="1" dirty="0"/>
              <a:t>.</a:t>
            </a:r>
            <a:endParaRPr lang="fa-IR" dirty="0"/>
          </a:p>
          <a:p>
            <a:pPr marL="0" indent="0">
              <a:lnSpc>
                <a:spcPct val="150000"/>
              </a:lnSpc>
              <a:buNone/>
            </a:pPr>
            <a:r>
              <a:rPr lang="it-IT" dirty="0"/>
              <a:t>Break-even points </a:t>
            </a:r>
            <a:r>
              <a:rPr lang="it-IT" dirty="0" err="1"/>
              <a:t>define</a:t>
            </a:r>
            <a:r>
              <a:rPr lang="it-IT" dirty="0"/>
              <a:t>: </a:t>
            </a:r>
            <a:endParaRPr lang="fa-I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/>
              <a:t>Minimum AI </a:t>
            </a:r>
            <a:r>
              <a:rPr lang="it-IT" dirty="0" err="1"/>
              <a:t>effectiveness</a:t>
            </a:r>
            <a:r>
              <a:rPr lang="it-IT" dirty="0"/>
              <a:t> </a:t>
            </a:r>
            <a:r>
              <a:rPr lang="it-IT" dirty="0" err="1"/>
              <a:t>needed</a:t>
            </a:r>
            <a:r>
              <a:rPr lang="it-IT" dirty="0"/>
              <a:t> </a:t>
            </a:r>
            <a:endParaRPr lang="fa-I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 err="1"/>
              <a:t>Feasible</a:t>
            </a:r>
            <a:r>
              <a:rPr lang="it-IT" dirty="0"/>
              <a:t> </a:t>
            </a:r>
            <a:r>
              <a:rPr lang="it-IT" dirty="0" err="1"/>
              <a:t>staffing</a:t>
            </a:r>
            <a:r>
              <a:rPr lang="it-IT" dirty="0"/>
              <a:t> reduction </a:t>
            </a:r>
            <a:endParaRPr lang="fa-IR" dirty="0"/>
          </a:p>
          <a:p>
            <a:pPr marL="0" indent="0">
              <a:lnSpc>
                <a:spcPct val="150000"/>
              </a:lnSpc>
              <a:buNone/>
            </a:pPr>
            <a:r>
              <a:rPr lang="it-IT" dirty="0"/>
              <a:t>Under high </a:t>
            </a:r>
            <a:r>
              <a:rPr lang="it-IT" dirty="0" err="1"/>
              <a:t>load</a:t>
            </a:r>
            <a:r>
              <a:rPr lang="it-IT" dirty="0"/>
              <a:t>: AI </a:t>
            </a:r>
            <a:r>
              <a:rPr lang="it-IT" dirty="0" err="1"/>
              <a:t>improves</a:t>
            </a:r>
            <a:r>
              <a:rPr lang="it-IT" dirty="0"/>
              <a:t> </a:t>
            </a:r>
            <a:r>
              <a:rPr lang="it-IT" b="1" dirty="0"/>
              <a:t>efficiency and </a:t>
            </a:r>
            <a:r>
              <a:rPr lang="it-IT" b="1" dirty="0" err="1"/>
              <a:t>resilience</a:t>
            </a:r>
            <a:r>
              <a:rPr lang="it-IT" b="1" dirty="0"/>
              <a:t>!</a:t>
            </a:r>
            <a:endParaRPr lang="fa-IR" b="1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b="-24657"/>
          <a:stretch/>
        </p:blipFill>
        <p:spPr>
          <a:xfrm>
            <a:off x="8989454" y="790575"/>
            <a:ext cx="3202545" cy="6067425"/>
          </a:xfrm>
        </p:spPr>
      </p:pic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B5C28B47-D2D9-453D-BD2B-7B09FF2BF43C}"/>
              </a:ext>
            </a:extLst>
          </p:cNvPr>
          <p:cNvSpPr txBox="1">
            <a:spLocks/>
          </p:cNvSpPr>
          <p:nvPr/>
        </p:nvSpPr>
        <p:spPr>
          <a:xfrm>
            <a:off x="11496675" y="6283354"/>
            <a:ext cx="521746" cy="47148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2400" smtClean="0">
                <a:solidFill>
                  <a:schemeClr val="bg1"/>
                </a:solidFill>
              </a:rPr>
              <a:pPr/>
              <a:t>10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568FB4-5EC8-47CF-88C9-4E6FE851FA43}"/>
              </a:ext>
            </a:extLst>
          </p:cNvPr>
          <p:cNvSpPr/>
          <p:nvPr/>
        </p:nvSpPr>
        <p:spPr>
          <a:xfrm>
            <a:off x="1489589" y="6420535"/>
            <a:ext cx="8753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ea typeface="+mj-ea"/>
                <a:cs typeface="+mj-cs"/>
              </a:rPr>
              <a:t> *The value of AI is context-dependent and emerges under pressure.*</a:t>
            </a:r>
            <a:endParaRPr lang="it-IT" sz="1600" dirty="0">
              <a:solidFill>
                <a:schemeClr val="accent6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10641436" cy="590551"/>
          </a:xfrm>
        </p:spPr>
        <p:txBody>
          <a:bodyPr/>
          <a:lstStyle/>
          <a:p>
            <a:r>
              <a:rPr lang="it-IT" dirty="0" err="1"/>
              <a:t>Sensitivity</a:t>
            </a:r>
            <a:r>
              <a:rPr lang="it-IT" dirty="0"/>
              <a:t> Analysis &amp; </a:t>
            </a:r>
            <a:r>
              <a:rPr lang="it-IT" dirty="0" err="1"/>
              <a:t>Robustness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91B1B116-4235-494E-9413-56204C13BEB7}"/>
              </a:ext>
            </a:extLst>
          </p:cNvPr>
          <p:cNvSpPr txBox="1">
            <a:spLocks/>
          </p:cNvSpPr>
          <p:nvPr/>
        </p:nvSpPr>
        <p:spPr>
          <a:xfrm>
            <a:off x="171450" y="6140479"/>
            <a:ext cx="521746" cy="47148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2400" smtClean="0">
                <a:solidFill>
                  <a:schemeClr val="bg1"/>
                </a:solidFill>
              </a:rPr>
              <a:pPr/>
              <a:t>11</a:t>
            </a:fld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AC98E7-1A05-45EF-817B-7A986731C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1951296"/>
            <a:ext cx="5983807" cy="35834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DBA252-6EB9-4B02-94C2-EBDD3DDD6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656" y="1951296"/>
            <a:ext cx="5866659" cy="3583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583F99-A2A1-4F56-AC9D-84224063410D}"/>
              </a:ext>
            </a:extLst>
          </p:cNvPr>
          <p:cNvSpPr/>
          <p:nvPr/>
        </p:nvSpPr>
        <p:spPr>
          <a:xfrm>
            <a:off x="3752849" y="6442691"/>
            <a:ext cx="90683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accent6"/>
                </a:solidFill>
                <a:ea typeface="+mj-ea"/>
                <a:cs typeface="+mj-cs"/>
              </a:rPr>
              <a:t>*</a:t>
            </a:r>
            <a:r>
              <a:rPr lang="en-US" sz="1600" dirty="0">
                <a:solidFill>
                  <a:schemeClr val="accent6"/>
                </a:solidFill>
                <a:ea typeface="+mj-ea"/>
                <a:cs typeface="+mj-cs"/>
              </a:rPr>
              <a:t>The relative performance advantage of AI remains stable under demand uncertainty.*</a:t>
            </a:r>
            <a:endParaRPr lang="it-IT" sz="1600" dirty="0">
              <a:solidFill>
                <a:schemeClr val="accent6"/>
              </a:solidFill>
              <a:ea typeface="+mj-ea"/>
              <a:cs typeface="+mj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3D57269-49EC-4BE6-9D57-41DE03FBA5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98001"/>
            <a:ext cx="7843837" cy="1012782"/>
          </a:xfrm>
        </p:spPr>
        <p:txBody>
          <a:bodyPr/>
          <a:lstStyle/>
          <a:p>
            <a:r>
              <a:rPr lang="it-IT" dirty="0" err="1"/>
              <a:t>Managerial</a:t>
            </a:r>
            <a:r>
              <a:rPr lang="it-IT" dirty="0"/>
              <a:t> </a:t>
            </a:r>
            <a:r>
              <a:rPr lang="it-IT" dirty="0" err="1"/>
              <a:t>Implications</a:t>
            </a:r>
            <a:r>
              <a:rPr lang="it-IT" dirty="0"/>
              <a:t> &amp; </a:t>
            </a:r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Takeaways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28724" y="1568091"/>
            <a:ext cx="8915401" cy="51677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AI should be evaluated as an </a:t>
            </a:r>
            <a:r>
              <a:rPr lang="en-US" sz="2000" b="1" dirty="0"/>
              <a:t>organizational process innovation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Efficiency gains come from: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Reduced decision latency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Lower variability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Improved system stability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AI enables: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Staffing optimization</a:t>
            </a:r>
            <a:r>
              <a:rPr lang="en-US" sz="2000" dirty="0"/>
              <a:t> without performance loss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Better performance under </a:t>
            </a:r>
            <a:r>
              <a:rPr lang="en-US" sz="2000" b="1" dirty="0"/>
              <a:t>high-demand conditions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Simulation provides a tool for </a:t>
            </a:r>
            <a:r>
              <a:rPr lang="en-US" sz="2000" b="1" dirty="0"/>
              <a:t>ex-ante strategic decision-making</a:t>
            </a:r>
            <a:endParaRPr lang="en-US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7303" r="20662" b="-1945"/>
          <a:stretch/>
        </p:blipFill>
        <p:spPr>
          <a:xfrm>
            <a:off x="8989454" y="3428999"/>
            <a:ext cx="3202546" cy="3495675"/>
          </a:xfrm>
        </p:spPr>
      </p:pic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4EBD6CB7-A8FE-4A6F-A044-81666E01D184}"/>
              </a:ext>
            </a:extLst>
          </p:cNvPr>
          <p:cNvSpPr txBox="1">
            <a:spLocks/>
          </p:cNvSpPr>
          <p:nvPr/>
        </p:nvSpPr>
        <p:spPr>
          <a:xfrm>
            <a:off x="19050" y="6264304"/>
            <a:ext cx="521746" cy="47148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2400" smtClean="0">
                <a:solidFill>
                  <a:schemeClr val="bg1"/>
                </a:solidFill>
              </a:rPr>
              <a:pPr/>
              <a:t>12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52BE24-C4CE-4ACA-9ECE-A27C50C243F0}"/>
              </a:ext>
            </a:extLst>
          </p:cNvPr>
          <p:cNvSpPr/>
          <p:nvPr/>
        </p:nvSpPr>
        <p:spPr>
          <a:xfrm>
            <a:off x="2664127" y="6427565"/>
            <a:ext cx="49679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ea typeface="+mj-ea"/>
                <a:cs typeface="+mj-cs"/>
              </a:rPr>
              <a:t>*AI is a strategic lever, not just a technological upgrade.*</a:t>
            </a:r>
            <a:endParaRPr lang="it-IT" sz="1600" dirty="0">
              <a:solidFill>
                <a:schemeClr val="accent6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1121893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2927780"/>
            <a:ext cx="5715000" cy="3080437"/>
          </a:xfrm>
        </p:spPr>
        <p:txBody>
          <a:bodyPr>
            <a:normAutofit/>
          </a:bodyPr>
          <a:lstStyle/>
          <a:p>
            <a:r>
              <a:rPr lang="en-US" b="1" dirty="0"/>
              <a:t>Team Members:</a:t>
            </a:r>
          </a:p>
          <a:p>
            <a:pPr>
              <a:lnSpc>
                <a:spcPct val="150000"/>
              </a:lnSpc>
            </a:pPr>
            <a:r>
              <a:rPr lang="en-US" dirty="0"/>
              <a:t>Ehsan Izadi </a:t>
            </a:r>
            <a:r>
              <a:rPr lang="en-US" dirty="0" err="1"/>
              <a:t>Zamanabadi</a:t>
            </a:r>
            <a:r>
              <a:rPr lang="en-US" dirty="0"/>
              <a:t> – S5968888</a:t>
            </a:r>
          </a:p>
          <a:p>
            <a:pPr>
              <a:lnSpc>
                <a:spcPct val="150000"/>
              </a:lnSpc>
            </a:pPr>
            <a:r>
              <a:rPr lang="en-US" dirty="0"/>
              <a:t>Reza </a:t>
            </a:r>
            <a:r>
              <a:rPr lang="en-US" dirty="0" err="1"/>
              <a:t>Dehghnaniabbasi</a:t>
            </a:r>
            <a:r>
              <a:rPr lang="en-US" dirty="0"/>
              <a:t> – S6939946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Seyedmahdi</a:t>
            </a:r>
            <a:r>
              <a:rPr lang="en-US" dirty="0"/>
              <a:t> </a:t>
            </a:r>
            <a:r>
              <a:rPr lang="en-US" dirty="0" err="1"/>
              <a:t>Seyedishandiz</a:t>
            </a:r>
            <a:r>
              <a:rPr lang="en-US" dirty="0"/>
              <a:t> – S7452028</a:t>
            </a:r>
          </a:p>
          <a:p>
            <a:pPr>
              <a:lnSpc>
                <a:spcPct val="150000"/>
              </a:lnSpc>
            </a:pPr>
            <a:r>
              <a:rPr lang="en-US" dirty="0"/>
              <a:t>Sina Gholami </a:t>
            </a:r>
            <a:r>
              <a:rPr lang="en-US" dirty="0" err="1"/>
              <a:t>Fashkhami</a:t>
            </a:r>
            <a:r>
              <a:rPr lang="en-US" dirty="0"/>
              <a:t> – S7015801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{1EA6F364-58F4-4EED-8FEF-D36B38BAF65B}TF8a9b5915-b8c7-461e-8cdd-693d48b5e32371f7b7e2_win32-4bf0b9a2ea37</Template>
  <TotalTime>359</TotalTime>
  <Words>707</Words>
  <Application>Microsoft Office PowerPoint</Application>
  <PresentationFormat>Widescreen</PresentationFormat>
  <Paragraphs>127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 Display</vt:lpstr>
      <vt:lpstr>Arial</vt:lpstr>
      <vt:lpstr>Arial Black</vt:lpstr>
      <vt:lpstr>Calibri</vt:lpstr>
      <vt:lpstr>Sabon Next LT</vt:lpstr>
      <vt:lpstr>Wingdings</vt:lpstr>
      <vt:lpstr>Custom</vt:lpstr>
      <vt:lpstr>Quantifying Organizational Efficiency Gains from AI-Driven Treatment Decision Tools</vt:lpstr>
      <vt:lpstr>Problem Statement</vt:lpstr>
      <vt:lpstr>Research Gap &amp; Research Objective</vt:lpstr>
      <vt:lpstr>Conceptual Framework</vt:lpstr>
      <vt:lpstr>Methodology:  Agent-Based Modeling Approach</vt:lpstr>
      <vt:lpstr>Scenario Design &amp; Experimental Setup</vt:lpstr>
      <vt:lpstr>KPIs &amp; Evaluation Metrics</vt:lpstr>
      <vt:lpstr>Results: Performance Curves</vt:lpstr>
      <vt:lpstr>Results: Performance Curves</vt:lpstr>
      <vt:lpstr>Results: Managerial Interpretation</vt:lpstr>
      <vt:lpstr>Sensitivity Analysis &amp; Robustness</vt:lpstr>
      <vt:lpstr>Managerial Implications &amp; Final Takeaways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Quantifying Organizational Efficiency Gains from AI-Driven Treatment Decision Tools</dc:title>
  <dc:subject/>
  <dc:creator>Sina Gholami Fashkhami</dc:creator>
  <cp:lastModifiedBy>Sina Gholami Fashkami</cp:lastModifiedBy>
  <cp:revision>37</cp:revision>
  <dcterms:created xsi:type="dcterms:W3CDTF">2026-01-19T15:31:29Z</dcterms:created>
  <dcterms:modified xsi:type="dcterms:W3CDTF">2026-01-20T14:58:36Z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